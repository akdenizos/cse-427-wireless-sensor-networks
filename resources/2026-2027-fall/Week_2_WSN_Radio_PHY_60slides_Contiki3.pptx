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presProps" Target="presProps.xml"/><Relationship Id="rId68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69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pic>
        <p:nvPicPr>
          <p:cNvPr id="6" name="Image 0" descr="/mnt/data/a_clean_modern_3d_rendered_infographic_illustrati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2D">
              <a:alpha val="72000"/>
            </a:srgbClr>
          </a:solidFill>
          <a:ln w="12700">
            <a:solidFill>
              <a:srgbClr val="081B2D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64008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0A896">
              <a:alpha val="96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9494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CSE 4th Year · WSN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640080" y="10515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2 — Radio &amp; Physical Layer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58368" y="18470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FF5FF"/>
                </a:solidFill>
              </a:rPr>
              <a:t>Path loss · shadowing · fading · RSSI/LQI/PRR · IEEE 802.15.4 PHY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58368" y="5349240"/>
            <a:ext cx="4480560" cy="502920"/>
          </a:xfrm>
          <a:prstGeom prst="roundRect">
            <a:avLst>
              <a:gd name="adj" fmla="val 12727"/>
            </a:avLst>
          </a:prstGeom>
          <a:solidFill>
            <a:srgbClr val="FFFFFF">
              <a:alpha val="84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1248" y="550468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 environment: Instant Contiki 3.0 · old Cooja · VMware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— Radio &amp; Physical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2 in the course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From hardware anatomy to the physics that makes WSN links unstable.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Introduction &amp; hardware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2194560" y="1874520"/>
            <a:ext cx="1508760" cy="960120"/>
          </a:xfrm>
          <a:prstGeom prst="chevron">
            <a:avLst/>
          </a:prstGeom>
          <a:solidFill>
            <a:srgbClr val="00A6D6"/>
          </a:solidFill>
          <a:ln w="12700">
            <a:solidFill>
              <a:srgbClr val="00A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591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</a:rPr>
              <a:t>Radio &amp; PHY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37947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593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Energy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53949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MAC I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69951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3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597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MAC II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85953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965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599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6LoWPAN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10195560" y="1874520"/>
            <a:ext cx="1508760" cy="960120"/>
          </a:xfrm>
          <a:prstGeom prst="chevron">
            <a:avLst/>
          </a:prstGeom>
          <a:solidFill>
            <a:srgbClr val="E5EFF5"/>
          </a:solidFill>
          <a:ln w="12700">
            <a:solidFill>
              <a:srgbClr val="D4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96728" y="19933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</a:rPr>
              <a:t>W7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360152" y="2267712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5B677A"/>
                </a:solidFill>
              </a:rPr>
              <a:t>RPL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822960" y="33832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3383280"/>
            <a:ext cx="54864" cy="1143000"/>
          </a:xfrm>
          <a:prstGeom prst="rect">
            <a:avLst/>
          </a:prstGeom>
          <a:solidFill>
            <a:srgbClr val="00A6D6"/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3529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Today’s anchor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7552" y="3822192"/>
            <a:ext cx="29077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 wireless link is not a cable. It is a probability distribution with packets attached.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4480560" y="33832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3383280"/>
            <a:ext cx="54864" cy="11430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3529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Why it matters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645152" y="3822192"/>
            <a:ext cx="29077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Routing, MAC scheduling and energy models become wrong if the PHY assumptions are too clean.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138160" y="3383280"/>
            <a:ext cx="3200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3383280"/>
            <a:ext cx="54864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3529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Lab proof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02752" y="3822192"/>
            <a:ext cx="290779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Students will collect RSSI, LQI and PRR inside old Cooja and see model dependence.</a:t>
            </a:r>
            <a:endParaRPr lang="en-US" sz="10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— Radio &amp; Physical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× 45 min teaching plan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Keep formulas short; spend time on interpretation and experiment design.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325880"/>
            <a:ext cx="54864" cy="42519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721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Part A — 45 min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1764792"/>
            <a:ext cx="3044952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Radio units and propagation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dB and dBm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link budget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receiver sensitivity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SNR and noise floor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path loss model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shadowing and fading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337560" cy="42519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325880"/>
            <a:ext cx="54864" cy="4251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472184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Part B — 45 min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9432" y="1764792"/>
            <a:ext cx="3044952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Measurements and 802.15.4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RSSI, LQI, PRR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transitional region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link asymmetry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IEEE 802.15.4 PHY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Cooja radio media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lab walkthrough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275320" y="182880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993392"/>
            <a:ext cx="26974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Mini-break: ask “what does RSSI NOT tell us?”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15468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pace: 30 slides per 45 minutes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 detailed derivations if students are tired</a:t>
            </a:r>
            <a:endParaRPr lang="en-US" sz="1300" dirty="0"/>
          </a:p>
          <a:p>
            <a:r>
              <a:rPr lang="en-US" sz="13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lab slides as the bridge to Week 3 energy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— Radio &amp; Physical Layer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By the end of Week 2, students should be able to reason about links, not just draw circles.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143000"/>
            <a:ext cx="54864" cy="10058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28930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50392" y="158191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Compute and interpret dBm, dB and simple link budgets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172200" y="114300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14300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28930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36792" y="158191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Explain path loss, shadowing, multipath and fading qualitatively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85800" y="25603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560320"/>
            <a:ext cx="54864" cy="10058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06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50392" y="299923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Distinguish RSSI, LQI and PRR without mixing them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172200" y="256032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256032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70662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LO4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36792" y="299923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Explain transitional regions and directional link asymmetry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85800" y="397764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977640"/>
            <a:ext cx="54864" cy="10058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412394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0392" y="441655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Recognize core IEEE 802.15.4 PHY facts used by WSN platforms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172200" y="3977640"/>
            <a:ext cx="4983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0" y="397764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4123944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LO6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36792" y="4416552"/>
            <a:ext cx="4690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Run a Cooja experiment and avoid overclaiming from the radio model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pic>
        <p:nvPicPr>
          <p:cNvPr id="3" name="Image 0" descr="/mnt/data/a_clean_modern_3d_rendered_infographic_illustrati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65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50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05156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0A6D6">
              <a:alpha val="96000"/>
            </a:srgbClr>
          </a:solidFill>
          <a:ln w="12700">
            <a:solidFill>
              <a:srgbClr val="00A6D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1064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SECTION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A: Radio power and propagation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FFF"/>
                </a:solidFill>
              </a:rPr>
              <a:t>The physics behind unstable links.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section break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05/60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radio is not “just networking”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In WSNs, the communication medium is the environment.</a:t>
            </a:r>
            <a:endParaRPr lang="en-US" sz="950" dirty="0"/>
          </a:p>
        </p:txBody>
      </p:sp>
      <p:pic>
        <p:nvPicPr>
          <p:cNvPr id="8" name="Image 0" descr="/mnt/data/a_clean_modern_3d_rendered_infographic_illustrati.png">    </p:cNvPr>
          <p:cNvPicPr>
            <a:picLocks noChangeAspect="1"/>
          </p:cNvPicPr>
          <p:nvPr/>
        </p:nvPicPr>
        <p:blipFill>
          <a:blip r:embed="rId1"/>
          <a:srcRect l="16771" r="16771" t="0" b="0"/>
          <a:stretch/>
        </p:blipFill>
        <p:spPr>
          <a:xfrm>
            <a:off x="6309360" y="1051560"/>
            <a:ext cx="5074920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1417320"/>
            <a:ext cx="525780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Packets travel as electromagnetic waves, not as abstract arrows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Walls, people, furniture, metal and interference change the channel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close nodes may have a poor link; two farther nodes may sometimes work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link is better modeled as a probability of successful packet delivery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14400" y="498348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5148072"/>
            <a:ext cx="45720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Core idea: link quality = time-varying evidence, not a binary edge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Transmit power and received power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transmitter radiates energy; the receiver captures only a tiny fraction.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43000" y="180594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4343400" y="180594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537460"/>
            <a:ext cx="301752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" y="224485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224485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446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24460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246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Transmitted power spreads outward; received power is much smaller.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14173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581912"/>
            <a:ext cx="420624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P_dBm = 10 log10(P_mW / 1 mW)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37960" y="2788920"/>
            <a:ext cx="45262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is often expressed in dBm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dBm = 1 mW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dBm is normal: it means less than 1 mW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−80 dBm is stronger than −90 dBm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dBm reference table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Students must be comfortable reading negative received-power values.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4023360" cy="42976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Power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100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10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0.1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−10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0.001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−30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10⁻⁹ mW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−90 dBm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9202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23560" y="2084832"/>
            <a:ext cx="4937760" cy="6217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−80 dBm &gt; −90 dBm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623560" y="3246120"/>
            <a:ext cx="48463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drop the minus sign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“Larger” means less negative in dBm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dBm is absolute power relative to 1 mW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dB versus dBm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Same letters, different meaning — classic exam trap.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234440"/>
            <a:ext cx="54864" cy="32004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3807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dBm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1673352"/>
            <a:ext cx="437083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Absolute power level relative to 1 mW.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Example: received signal = −85 dBm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234440"/>
            <a:ext cx="54864" cy="3200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38074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dB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48272" y="1673352"/>
            <a:ext cx="437083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Ratio, gain or loss.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Example: path loss = 70 dB; antenna gain = 2 dB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280160" y="5074920"/>
            <a:ext cx="9601200" cy="640080"/>
          </a:xfrm>
          <a:prstGeom prst="roundRect">
            <a:avLst>
              <a:gd name="adj" fmla="val 11429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239512"/>
            <a:ext cx="93268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+3 dB ≈ ×2 power      +10 dB = ×10 power      −10 dB = ÷10 power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 budget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first-order accounting of gains and losses.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07592"/>
            <a:ext cx="539496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P_r = P_t + G_t + G_r − PL − L_s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53035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P_r: received power in dBm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P_t: transmit power in dBm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G_t, G_r: antenna gains in dB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PL: propagation path loss in dB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L_s: additional system losses in dB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49440" y="1325880"/>
            <a:ext cx="41605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325880"/>
            <a:ext cx="54864" cy="347472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14032" y="147218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Worked intuition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14032" y="1764792"/>
            <a:ext cx="38679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If P_t = 0 dBm, antennas are 0 dB, path loss is 75 dB and system losses are 2 dB: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P_r = −77 dBm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Now ask: is that above sensitivity, and what is the noise floor?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Receiver sensitivity is not a cliff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receiver can decode weak signals only under specified conditions.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4754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160520"/>
            <a:ext cx="429768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417320"/>
            <a:ext cx="0" cy="274320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417320"/>
            <a:ext cx="716280" cy="85725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3560" y="1503045"/>
            <a:ext cx="716280" cy="17145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9840" y="1674495"/>
            <a:ext cx="716280" cy="428625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103120"/>
            <a:ext cx="716280" cy="91440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62400" y="3017520"/>
            <a:ext cx="716280" cy="828675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8680" y="3846195"/>
            <a:ext cx="716280" cy="314325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5276" y="13853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1556" y="1471041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7836" y="1642491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4116" y="20711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0396" y="29855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6676" y="3814191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2956" y="41285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1261872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Packet delivery (%)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005840" y="46177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A"/>
                </a:solidFill>
              </a:rPr>
              <a:t>Signal gets weaker → delivery probability falls gradually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325880"/>
            <a:ext cx="4663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325880"/>
            <a:ext cx="54864" cy="3474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14721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Correct interpretation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73952" y="1764792"/>
            <a:ext cx="437083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Sensitivity is the minimum signal level for a given performance target. It is not a magic border where links become perfect above it and impossible below it.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radio power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Noise floor and SNR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RSSI alone is incomplete because receivers also hear noise and interference.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15568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80160"/>
            <a:ext cx="52120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SNR_dB = P_signal,dBm − P_noise,dBm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1488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148840"/>
            <a:ext cx="54864" cy="23774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2951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Case 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4712" y="2587752"/>
            <a:ext cx="318211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Signal: −80 dBm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Noise: −100 dBm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SNR = 20 dB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Likely better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148840"/>
            <a:ext cx="54864" cy="2377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2951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Case 2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28032" y="2587752"/>
            <a:ext cx="318211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Signal: −80 dBm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Noise: −82 dBm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SNR = 2 dB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Likely poor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006840" y="233172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0800000">
            <a:off x="10104120" y="233172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063240"/>
            <a:ext cx="91440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88552" y="277063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51592" y="277063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0" y="2971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823960" y="38862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Same RSSI can behave differently.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propagation effects to separate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Students often blend these; keep them distinct.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234440"/>
            <a:ext cx="54864" cy="32004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3807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Path loss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" y="1673352"/>
            <a:ext cx="31363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Average signal reduction as distance increases.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2344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234440"/>
            <a:ext cx="54864" cy="32004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3807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Shadowing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9432" y="1673352"/>
            <a:ext cx="31363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Slow variation caused by obstacles and environment structure.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92440" y="123444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234440"/>
            <a:ext cx="54864" cy="3200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3807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Fading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57032" y="1673352"/>
            <a:ext cx="313639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Shorter-term variation caused by multipath combination.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1024128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148072"/>
            <a:ext cx="99669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Received power = average distance trend + obstacle variation + multipath variation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 loss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Signal power decreases as energy spreads and interacts with the environment.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143000"/>
            <a:ext cx="43434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Geometric spreading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Absorption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Diffraction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Scattering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Penetration through materials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Antenna and polarization effects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26480" y="196596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9326880" y="196596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697480"/>
            <a:ext cx="301752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8192" y="240487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74352" y="240487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738360" y="2606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35204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Longer distance usually means larger average path loss.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4434840"/>
            <a:ext cx="438912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599432"/>
            <a:ext cx="41148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PL_dB = P_t,dBm − P_r,dBm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Free-space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Useful reference, but too clean for indoor WSNs.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07592"/>
            <a:ext cx="4800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PL_FS(d) = 20 log10(4πd / λ)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507492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496312"/>
            <a:ext cx="48006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 = c / f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46520" y="1234440"/>
            <a:ext cx="44805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234440"/>
            <a:ext cx="54864" cy="2834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1380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At 2.4 GHz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1112" y="1673352"/>
            <a:ext cx="418795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λ ≈ 0.125 m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At 1 m: PL ≈ 40 dB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At 10 m: PL ≈ 60 dB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×10 distance → +20 dB loss in free space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051560" y="3703320"/>
            <a:ext cx="4480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5303520"/>
            <a:ext cx="402336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3931920"/>
            <a:ext cx="0" cy="137160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5303520"/>
            <a:ext cx="211756" cy="-316523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91916" y="4986997"/>
            <a:ext cx="635267" cy="-422031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7183" y="4564966"/>
            <a:ext cx="1058779" cy="-316523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85962" y="4248443"/>
            <a:ext cx="2117558" cy="-316523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48156" y="52715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59912" y="4954993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95179" y="453296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3958" y="4216439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1516" y="38999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1288" y="3776472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Path loss grows logarithmically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Log-distance path loss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Real rooms often attenuate faster than free space.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5760720" cy="777240"/>
          </a:xfrm>
          <a:prstGeom prst="roundRect">
            <a:avLst>
              <a:gd name="adj" fmla="val 9412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61872"/>
            <a:ext cx="548640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PL(d) = PL(d₀) + 10n log10(d/d₀)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53035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path-loss exponent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= 2 in ideal free space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larger indoors or around obstacles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n by measurement when possible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40880" y="123444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0" y="1234440"/>
            <a:ext cx="54864" cy="34290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1380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Example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05472" y="1673352"/>
            <a:ext cx="382219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PL(1 m) = 40 dB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 = 3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At 10 m: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PL = 40 + 30 log10(10)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PL = 70 dB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So the same distance can cost 10 dB more than free space.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Shadowing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Distance trend is average behavior; obstacles create deviations.</a:t>
            </a:r>
            <a:endParaRPr lang="en-US" sz="950" dirty="0"/>
          </a:p>
        </p:txBody>
      </p:sp>
      <p:pic>
        <p:nvPicPr>
          <p:cNvPr id="8" name="Image 0" descr="/mnt/data/a_clean_modern_3d_rendered_infographic_illustrati.png">    </p:cNvPr>
          <p:cNvPicPr>
            <a:picLocks noChangeAspect="1"/>
          </p:cNvPicPr>
          <p:nvPr/>
        </p:nvPicPr>
        <p:blipFill>
          <a:blip r:embed="rId1"/>
          <a:srcRect l="15573" r="15573" t="0" b="0"/>
          <a:stretch/>
        </p:blipFill>
        <p:spPr>
          <a:xfrm>
            <a:off x="6035040" y="1097280"/>
            <a:ext cx="5257800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188720"/>
            <a:ext cx="43891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wall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 cabinet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body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vegetation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machinery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Vehicle or moving object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411480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4279392"/>
            <a:ext cx="425196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PL(d) = average path loss + Xσ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A"/>
                </a:solidFill>
              </a:rPr>
              <a:t>Shadowing is large-scale variation around the average path-loss trend.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Log-normal shadowing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simple way to represent “same distance, different received power.”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051560"/>
            <a:ext cx="6629400" cy="822960"/>
          </a:xfrm>
          <a:prstGeom prst="roundRect">
            <a:avLst>
              <a:gd name="adj" fmla="val 8889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16152"/>
            <a:ext cx="63550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PL(d) = PL(d₀) + 10n log10(d/d₀) + Xσ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331720"/>
            <a:ext cx="5029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663440"/>
            <a:ext cx="457200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560320"/>
            <a:ext cx="0" cy="210312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560320"/>
            <a:ext cx="762000" cy="630936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9280" y="3191256"/>
            <a:ext cx="762000" cy="841248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21280" y="4032504"/>
            <a:ext cx="762000" cy="-736092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296412"/>
            <a:ext cx="762000" cy="1367028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45280" y="4663440"/>
            <a:ext cx="762000" cy="-946404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07280" y="3717036"/>
            <a:ext cx="762000" cy="-946404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5276" y="2528316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7276" y="3159252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89276" y="4000500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1276" y="3264408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3276" y="4631436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5276" y="3685032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37276" y="2738628"/>
            <a:ext cx="64008" cy="64008"/>
          </a:xfrm>
          <a:prstGeom prst="ellipse">
            <a:avLst/>
          </a:prstGeom>
          <a:solidFill>
            <a:srgbClr val="6D5DFB"/>
          </a:solidFill>
          <a:ln w="12700">
            <a:solidFill>
              <a:srgbClr val="6D5D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2404872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RSSI samples at similar distance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720840" y="2103120"/>
            <a:ext cx="4389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0840" y="2103120"/>
            <a:ext cx="54864" cy="256032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22494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Interpretation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85432" y="2542032"/>
            <a:ext cx="40965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The deterministic term gives the average. The random term represents deviations caused by environment structure. Larger σ means stronger variability.</a:t>
            </a:r>
            <a:endParaRPr lang="en-US" sz="10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Multipath propagation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signal can arrive through several delayed paths.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17830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4663440" y="17830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514600"/>
            <a:ext cx="329184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222199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10912" y="222199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2423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4920" y="24231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77A"/>
                </a:solidFill>
              </a:rPr>
              <a:t>Direct path + reflected paths combine at receiver.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1828800"/>
            <a:ext cx="2011680" cy="-777240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051560"/>
            <a:ext cx="1234440" cy="1051560"/>
          </a:xfrm>
          <a:prstGeom prst="line">
            <a:avLst/>
          </a:prstGeom>
          <a:noFill/>
          <a:ln w="12700">
            <a:solidFill>
              <a:srgbClr val="6D5D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154680"/>
            <a:ext cx="2011680" cy="77724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3931920"/>
            <a:ext cx="1234440" cy="-9144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234440"/>
            <a:ext cx="4434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234440"/>
            <a:ext cx="54864" cy="30175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138074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Mechanisms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56832" y="1673352"/>
            <a:ext cx="4142232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Reflection, diffraction and scattering cause multiple copies with different amplitude, phase, delay and direction.</a:t>
            </a:r>
            <a:endParaRPr lang="en-US" sz="10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Constructive and destructive interference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Multipath components may reinforce or cancel each other.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234440"/>
            <a:ext cx="54864" cy="3063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3807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Constructive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167335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Components arrive with similar phase → amplitude increases → stronger received signal.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583680" y="123444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234440"/>
            <a:ext cx="54864" cy="30632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13807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Destructive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48272" y="1673352"/>
            <a:ext cx="4462272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Components arrive with opposing phase → partial cancellation → weaker received signal.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143000" y="4892040"/>
            <a:ext cx="992124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056632"/>
            <a:ext cx="964692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 2.4 GHz, λ ≈ 12.5 cm — moving a mote a few cm can matter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Fading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Received signal variation caused by channel changes.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47548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886200"/>
            <a:ext cx="429768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417320"/>
            <a:ext cx="0" cy="246888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664208"/>
            <a:ext cx="537210" cy="24688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34490" y="1911096"/>
            <a:ext cx="537210" cy="98755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71700" y="2898648"/>
            <a:ext cx="537210" cy="-148132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8910" y="1417320"/>
            <a:ext cx="537210" cy="86410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281428"/>
            <a:ext cx="537210" cy="1604772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3330" y="3886200"/>
            <a:ext cx="537210" cy="-209854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0540" y="1787652"/>
            <a:ext cx="537210" cy="-246888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57750" y="1540764"/>
            <a:ext cx="537210" cy="1728216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5276" y="1632204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2486" y="1879092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9696" y="2866644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76906" y="1385316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4116" y="2249424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1326" y="3854196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88536" y="1755648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5746" y="1508760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62956" y="3236976"/>
            <a:ext cx="64008" cy="640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1261872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RSSI over time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309360" y="109728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097280"/>
            <a:ext cx="54864" cy="11887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12435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Slow fading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73952" y="1536192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Channel changes slowly relative to packet transmission.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309360" y="256032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5603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7066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Fast fading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473952" y="2999232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Channel changes significantly over a short time.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309360" y="4023360"/>
            <a:ext cx="46634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023360"/>
            <a:ext cx="54864" cy="118872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16966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Static nodes still fade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73952" y="4462272"/>
            <a:ext cx="4370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People, doors, vehicles, machinery and reflecting objects move.</a:t>
            </a:r>
            <a:endParaRPr lang="en-US" sz="10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Flat versus frequency-selective fading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For Week 2, keep the intuition; deeper math belongs to wireless comms.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234440"/>
            <a:ext cx="54864" cy="292608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3807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Flat fading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1673352"/>
            <a:ext cx="446227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All frequency components are affected approximately equally. Signal amplitude changes, shape mostly preserved.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92240" y="12344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234440"/>
            <a:ext cx="54864" cy="2926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3807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Frequency-selective fading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56832" y="1673352"/>
            <a:ext cx="4462272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Different frequency components experience different attenuation and phase shift. Waveform distortion can occur.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143000" y="4892040"/>
            <a:ext cx="982980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056632"/>
            <a:ext cx="955548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Whether fading is flat depends on bandwidth and multipath delay spread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Combined received-power model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compact mental model for simulation and measurement.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99032"/>
            <a:ext cx="1014984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P_r(d,t) = P_r(d₀) − 10n log10(d/d₀) − Xσ + F(t)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60604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606040"/>
            <a:ext cx="54864" cy="19659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752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Distance trend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3044952"/>
            <a:ext cx="27249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Average loss increases with d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617720" y="260604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2606040"/>
            <a:ext cx="54864" cy="196596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752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Shadowing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2312" y="3044952"/>
            <a:ext cx="27249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Obstacle-dependent deviation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321040" y="2606040"/>
            <a:ext cx="30175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606040"/>
            <a:ext cx="54864" cy="1965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2752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Fading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85632" y="3044952"/>
            <a:ext cx="272491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Short-term multipath variation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1508760" y="5212080"/>
            <a:ext cx="9144000" cy="502920"/>
          </a:xfrm>
          <a:prstGeom prst="roundRect">
            <a:avLst>
              <a:gd name="adj" fmla="val 14545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5376672"/>
            <a:ext cx="88696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Conclusion: received power is not a deterministic function of distance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— propagation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Distance is not a reliable link-quality metric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Two equal-length links can behave differently.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0160" y="13716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4114800" y="13716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103120"/>
            <a:ext cx="265176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181051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62272" y="181051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26280" y="20116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Link A: same distance, clear path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80160" y="38404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0800000">
            <a:off x="4114800" y="38404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4572000"/>
            <a:ext cx="2651760" cy="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1872" y="427939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427939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4480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51663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Link B: same distance, wall + metal + body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1463040"/>
            <a:ext cx="43891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 material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Antenna orientation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height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 objects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movement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Multipath propagation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6520" y="4983480"/>
            <a:ext cx="425196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5148072"/>
            <a:ext cx="39776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Use measurement, not geometry alone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0A896">
              <a:alpha val="96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064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SECTION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B: Link-quality metrics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A"/>
                </a:solidFill>
              </a:rPr>
              <a:t>RSSI, LQI and PRR are related, not interchangeable.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section break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25/60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stack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Each metric answers a different question.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234440"/>
            <a:ext cx="54864" cy="2743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RSSI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673352"/>
            <a:ext cx="290779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How strong was the received signal power?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23444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234440"/>
            <a:ext cx="54864" cy="27432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LQI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1673352"/>
            <a:ext cx="290779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How good was the successfully received frame?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38160" y="123444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234440"/>
            <a:ext cx="54864" cy="2743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3807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PRR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1673352"/>
            <a:ext cx="290779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How often did packets actually arrive?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325880" y="4892040"/>
            <a:ext cx="960120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63040" y="5056632"/>
            <a:ext cx="932688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Hardware evidence + empirical delivery evidence = better link reasoning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RSSI: Received Signal Strength Indicator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RSSI is received power evidence, not delivery probability.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1430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307592"/>
            <a:ext cx="493776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RSSI ≈ received power during packet reception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148840"/>
            <a:ext cx="516636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reported in dBm or a platform-specific integer scale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from many radio chips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support localization, topology control and link selection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Collected only when something is received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280160"/>
            <a:ext cx="43891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4160520"/>
            <a:ext cx="393192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508760"/>
            <a:ext cx="0" cy="265176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508760"/>
            <a:ext cx="655320" cy="29464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7600" y="1803400"/>
            <a:ext cx="655320" cy="2209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2920" y="2024380"/>
            <a:ext cx="655320" cy="5892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2613660"/>
            <a:ext cx="655320" cy="2209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33560" y="2834640"/>
            <a:ext cx="655320" cy="88392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88880" y="3718560"/>
            <a:ext cx="655320" cy="44196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0276" y="14767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35596" y="17713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0916" y="199237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46236" y="25816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1556" y="28026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6876" y="368655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12196" y="41285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353312"/>
            <a:ext cx="4169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RSSI tends downward but not smoothly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RSSI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Approximate labels help, but thresholds are platform dependent.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34440"/>
          <a:ext cx="402336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RSSI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Interpretation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−50 dBm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Very strong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−70 dBm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Moderate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−85 dBm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Weak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−95 dBm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3"/>
                          </a:solidFill>
                        </a:rPr>
                        <a:t>Very weak</a:t>
                      </a:r>
                      <a:endParaRPr lang="en-US" sz="15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760720" y="1508760"/>
            <a:ext cx="420624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 sensitivity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floor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 implementation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Packet length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calibration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475488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4919472"/>
            <a:ext cx="46634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 not copy an RSSI threshold blindly between platforms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RSSI limitations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Strong RSSI helps, but it does not guarantee delivery.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097280"/>
            <a:ext cx="3246120" cy="38862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097280"/>
            <a:ext cx="54864" cy="3886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RSSI can mislead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536192"/>
            <a:ext cx="2953512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includes interference/noise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varies over time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differs across hardware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does not fully represent decoding quality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3246120" cy="38862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097280"/>
            <a:ext cx="54864" cy="38862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Two classic cases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1536192"/>
            <a:ext cx="2953512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strong RSSI + collision → bad PRR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moderate RSSI + low noise → good PRR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RSSI is one piece of evidence.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38160" y="1097280"/>
            <a:ext cx="3246120" cy="38862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097280"/>
            <a:ext cx="54864" cy="3886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Use with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1536192"/>
            <a:ext cx="2953512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Noise floor, LQI, PRR, retransmissions and application delivery behavior.</a:t>
            </a:r>
            <a:endParaRPr lang="en-US" sz="10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LQI: Link Quality Indicator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LQI is receiver-specific quality evidence for a received frame.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097280"/>
            <a:ext cx="612648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61872"/>
            <a:ext cx="58521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LQI = implementation-dependent frame-quality indication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103120"/>
            <a:ext cx="57607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use correlation, SNR, signal strength, estimated chip errors or combinations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Associated with a successfully detected packet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universal unit like metres, watts or dBm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compare LQI from different radio families blindly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52360" y="150876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1508760"/>
            <a:ext cx="54864" cy="29718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16952" y="16550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Old Cooja relevance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16952" y="1947672"/>
            <a:ext cx="3136392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Sky/TelosB-style simulations often model CC2420-class behavior. Treat LQI as a platform-specific clue.</a:t>
            </a:r>
            <a:endParaRPr lang="en-US" sz="10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CC2420 example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Useful because old WSN literature and Cooja examples often assume CC2420-style radios.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097280"/>
            <a:ext cx="3200400" cy="3657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097280"/>
            <a:ext cx="54864" cy="36576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243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CC2420 reports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1536192"/>
            <a:ext cx="29077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RSSI value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7-bit average correlation value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CRC validity indication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3200400" cy="3657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097280"/>
            <a:ext cx="54864" cy="36576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243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Why it matters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1536192"/>
            <a:ext cx="29077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Correlation is related to chip errors, not simply another power measurement.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92440" y="1097280"/>
            <a:ext cx="3200400" cy="36576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097280"/>
            <a:ext cx="54864" cy="3657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24358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Teaching phrase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57032" y="1536192"/>
            <a:ext cx="2907792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RSSI concerns power.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LQI concerns decoding quality evidence.</a:t>
            </a:r>
            <a:endParaRPr lang="en-US" sz="10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LQI limitations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High LQI on one packet does not prove a stable link.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5303520" cy="3840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Hardware-specific meaning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available only for received packets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describe packets never detected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saturate on strong links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Single-packet value may not represent long-term reliability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system may transform raw radio values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4480560" cy="1280160"/>
          </a:xfrm>
          <a:prstGeom prst="roundRect">
            <a:avLst>
              <a:gd name="adj" fmla="val 5714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93392"/>
            <a:ext cx="420624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High LQI for received packets + many missing packets = still a bad link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086600" y="38862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9464040" y="38862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5240" y="4617720"/>
            <a:ext cx="219456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68312" y="432511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11512" y="432511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4526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875520" y="45262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03720" y="5074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Measure the missing packets too.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PRR: Packet Reception Ratio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PRR directly measures successful delivery over an observation window.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61872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PRR = N_received / N_transmitted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240280"/>
            <a:ext cx="4434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240280"/>
            <a:ext cx="54864" cy="1920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38658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2679192"/>
            <a:ext cx="41422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92 received out of 100 transmitted: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PRR = 0.92 = 92%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0" y="1508760"/>
            <a:ext cx="4480560" cy="3017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Empirical metric, not instantaneous hardware value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Depends on observation window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sequence numbers or known transmission count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directly reflects application delivery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Sequence numbers for PRR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Missing sequence numbers reveal lost packets.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09728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61872"/>
            <a:ext cx="52120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received: 1, 2, 3, 5, 6, 9, 10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48840"/>
            <a:ext cx="54864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295144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Missing packets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2587752"/>
            <a:ext cx="496519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4, 7 and 8 are absent.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Expected 10, received 7.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PRR = 7/10 = 0.70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1234440"/>
            <a:ext cx="54864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13807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Lab rule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85432" y="1673352"/>
            <a:ext cx="373075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Every sender packet must carry a sequence number. Otherwise students cannot distinguish loss from silence.</a:t>
            </a:r>
            <a:endParaRPr lang="en-US" sz="10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PRR window size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short window reacts fast; a long window is stable but slow.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4937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114800"/>
            <a:ext cx="448056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371600"/>
            <a:ext cx="0" cy="274320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371600"/>
            <a:ext cx="640080" cy="54864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920240"/>
            <a:ext cx="640080" cy="10972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3017520"/>
            <a:ext cx="640080" cy="-54864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2468880"/>
            <a:ext cx="640080" cy="164592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4114800"/>
            <a:ext cx="640080" cy="-219456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20240"/>
            <a:ext cx="640080" cy="164592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3566160"/>
            <a:ext cx="640080" cy="-109728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5276" y="133959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05356" y="188823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45436" y="298551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85516" y="243687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25596" y="408279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5676" y="188823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5756" y="353415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5836" y="2436876"/>
            <a:ext cx="64008" cy="640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1216152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PRR over 10-packet windows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400800" y="1143000"/>
            <a:ext cx="4937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4114800"/>
            <a:ext cx="448056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29400" y="1371600"/>
            <a:ext cx="0" cy="274320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1371600"/>
            <a:ext cx="640080" cy="73152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9480" y="2103120"/>
            <a:ext cx="640080" cy="73152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09560" y="2834640"/>
            <a:ext cx="640080" cy="36576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9640" y="3200400"/>
            <a:ext cx="640080" cy="73152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3931920"/>
            <a:ext cx="640080" cy="-1828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29800" y="3749040"/>
            <a:ext cx="640080" cy="36576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69880" y="4114800"/>
            <a:ext cx="640080" cy="-1828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97396" y="13395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37476" y="20711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77556" y="28026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17636" y="31683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57716" y="38999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797796" y="371703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37876" y="40827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77956" y="38999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1216152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PRR over 100-packet windows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920240" y="5029200"/>
            <a:ext cx="832104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57400" y="5193792"/>
            <a:ext cx="804672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Window choice is part of the measurement design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 — metrics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Comparing RSSI, LQI and PRR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three metrics should not be treated as interchangeable.</a:t>
            </a:r>
            <a:endParaRPr lang="en-US" sz="9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698480" cy="283464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Represents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Main limitation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RSSI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received power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not delivery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LQI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quality of received frame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hardware-specific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PRR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successful delivery fraction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needs many packets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05840" y="4572000"/>
            <a:ext cx="100584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RSSI but low PRR: collision or interference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LQI but low PRR: missing packets are invisible to LQI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RSSI both ways but asymmetric PRR: ACK direction matters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pic>
        <p:nvPicPr>
          <p:cNvPr id="3" name="Image 0" descr="/mnt/data/a_clean_modern_3d_rendered_infographic_illustrati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65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50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05156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96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1064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SECTION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C: Transitional links and asymmetry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FFF"/>
                </a:solidFill>
              </a:rPr>
              <a:t>Where radio stops behaving politely.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section break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37/60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— transitional links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informal link regions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Real links degrade through a transitional zone, not a perfect disk boundary.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5120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389120"/>
            <a:ext cx="466344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371600"/>
            <a:ext cx="0" cy="301752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371600"/>
            <a:ext cx="582930" cy="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80210" y="1371600"/>
            <a:ext cx="582930" cy="6035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3140" y="1431950"/>
            <a:ext cx="582930" cy="90526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46070" y="1522476"/>
            <a:ext cx="582930" cy="7543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2276856"/>
            <a:ext cx="582930" cy="7543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11930" y="3031236"/>
            <a:ext cx="582930" cy="754380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4860" y="3785616"/>
            <a:ext cx="582930" cy="452628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77790" y="4238244"/>
            <a:ext cx="582930" cy="150876"/>
          </a:xfrm>
          <a:prstGeom prst="line">
            <a:avLst/>
          </a:prstGeom>
          <a:noFill/>
          <a:ln w="12700">
            <a:solidFill>
              <a:srgbClr val="1F77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5276" y="13395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8206" y="133959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31136" y="139994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14066" y="149047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96996" y="224485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79926" y="299923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62856" y="3753612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45786" y="4206240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4357116"/>
            <a:ext cx="64008" cy="64008"/>
          </a:xfrm>
          <a:prstGeom prst="ellipse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" y="1216152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PRR vs. distance/intensity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492240" y="11430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1143000"/>
            <a:ext cx="54864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12893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Connected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656832" y="1581912"/>
            <a:ext cx="39136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High PRR, stable connectivity, few retransmissions.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6492240" y="269748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269748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284378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Transitional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656832" y="3136392"/>
            <a:ext cx="39136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Intermediate or highly variable PRR, bursts, asymmetry.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6492240" y="42519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92240" y="4251960"/>
            <a:ext cx="54864" cy="12344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4398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Disconnected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56832" y="4690872"/>
            <a:ext cx="391363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PRR near zero, few decoded packets, unstable discovery.</a:t>
            </a:r>
            <a:endParaRPr lang="en-US" sz="103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— transitional links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transitional region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Marginal links can be more expensive than clearly bad links.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4937760" cy="3566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appears as neighbor, then disappears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may work, ACKs may fail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channel works, another does not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repeatedly selects and removes the neighbor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retransmissions waste energy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297680" cy="822960"/>
          </a:xfrm>
          <a:prstGeom prst="roundRect">
            <a:avLst>
              <a:gd name="adj" fmla="val 8889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993392"/>
            <a:ext cx="40233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Shortest geographic link ≠ lowest energy link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949440" y="352044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9235440" y="352044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4251960"/>
            <a:ext cx="210312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31152" y="395935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82912" y="395935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46920" y="41605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47091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“Almost works” is often expensive.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— transitional links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Hysteresis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Avoid rapid topology switching caused by noisy measurements.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658368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07592"/>
            <a:ext cx="6309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Add neighbor if PRR &gt; 0.8; keep until PRR &lt; 0.5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0120" y="233172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4846320"/>
            <a:ext cx="457200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560320"/>
            <a:ext cx="0" cy="228600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737956"/>
            <a:ext cx="653143" cy="-692727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41863" y="3045229"/>
            <a:ext cx="653143" cy="-484909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95006" y="2560320"/>
            <a:ext cx="653143" cy="96981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8149" y="3530138"/>
            <a:ext cx="653143" cy="692727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01291" y="4222865"/>
            <a:ext cx="653143" cy="415636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4434" y="4638502"/>
            <a:ext cx="653143" cy="20781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7577" y="4846320"/>
            <a:ext cx="653143" cy="-96981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6716" y="370595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09859" y="301322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3002" y="25283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16145" y="349813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9287" y="419086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22430" y="460649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5573" y="481431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28716" y="384449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2404872"/>
            <a:ext cx="4809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PRR fluctuates around thresholds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629400" y="2103120"/>
            <a:ext cx="416052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2103120"/>
            <a:ext cx="54864" cy="2651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224942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Why it helps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93992" y="2542032"/>
            <a:ext cx="38679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One threshold causes rapid add/remove decisions. Two thresholds create a stability band.</a:t>
            </a:r>
            <a:endParaRPr lang="en-US" sz="10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— asymmetry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Link asymmetry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→ B quality may not equal B → A quality.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25880" y="13258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4251960" y="132588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4520" y="2057400"/>
            <a:ext cx="27432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7592" y="176479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76479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965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26517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A → B PRR = 0.95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3931920"/>
            <a:ext cx="-3017520" cy="0"/>
          </a:xfrm>
          <a:prstGeom prst="line">
            <a:avLst/>
          </a:prstGeom>
          <a:noFill/>
          <a:ln w="12700">
            <a:solidFill>
              <a:srgbClr val="D64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611880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3611880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0" y="420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4545"/>
                </a:solidFill>
              </a:rPr>
              <a:t>B → A PRR = 0.40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417320"/>
            <a:ext cx="43891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transmit power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 sensitivity variation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Antenna orientation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local noise floor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 near one receiver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fading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 — asymmetry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Asymmetry and acknowledgements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A strong data direction is not enough if ACKs cannot return.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61872"/>
            <a:ext cx="557784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P_success = PRR_forward × PRR_reverse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24028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240280"/>
            <a:ext cx="54864" cy="214884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23865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Example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70432" y="2679192"/>
            <a:ext cx="4187952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Forward PRR = 0.90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Reverse ACK PRR = 0.50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Exchange success = 0.45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400800" y="1874520"/>
            <a:ext cx="4297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74520"/>
            <a:ext cx="54864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020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Routing implication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2313432"/>
            <a:ext cx="400507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 node may hear advertisements from a parent, select it, then fail to deliver packets in the reverse direction needed by the protocol.</a:t>
            </a:r>
            <a:endParaRPr lang="en-US" sz="103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1F77B4">
              <a:alpha val="96000"/>
            </a:srgbClr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1064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SECTION</a:t>
            </a:r>
            <a:endParaRPr lang="en-US" sz="68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D: IEEE 802.15.4 PHY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B677A"/>
                </a:solidFill>
              </a:rPr>
              <a:t>The low-rate radio foundation used by classic WSN platforms.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section break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43/60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IEEE 802.15.4 purpose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PHY/MAC basis for many low-power WSN systems.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143000"/>
            <a:ext cx="54864" cy="356616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2893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Defines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1581912"/>
            <a:ext cx="43708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Physical layer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MAC sublayer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Low-rate wireless operation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• Mechanisms for energy-constrained devices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0" y="114300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143000"/>
            <a:ext cx="54864" cy="3566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2893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Not the same as Zigbee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1581912"/>
            <a:ext cx="43708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Zigbee adds network, application support and profiles above IEEE 802.15.4. Other stacks can also use 802.15.4.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246120" y="5166360"/>
            <a:ext cx="566928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5330952"/>
            <a:ext cx="539496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IEEE 802.15.4 ≠ Zigbee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Classic 2.4 GHz PHY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course focus: globally common O-QPSK 2.4 GHz PHY used by many WSN platforms.</a:t>
            </a:r>
            <a:endParaRPr lang="en-US" sz="95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143000"/>
          <a:ext cx="4297680" cy="41605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Channel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Center frequency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2405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2410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2425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2450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2475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26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2480 MHz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0" y="1554480"/>
            <a:ext cx="49377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554480"/>
            <a:ext cx="54864" cy="25603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16752" y="170078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Key numbers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16752" y="1993392"/>
            <a:ext cx="464515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16 channels: 11–26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Channel spacing: 5 MHz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Raw PHY rate: 250 kb/s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Spreading: 2 Mchip/s</a:t>
            </a:r>
            <a:endParaRPr lang="en-US" sz="103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rate versus application throughput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250 kb/s is PHY raw rate, not what your application gets.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4480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 headers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 headers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Addresses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numbers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Check Sequence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fields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Acknowledgements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Backoff and retransmissions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764792"/>
            <a:ext cx="438912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Application throughput &lt; raw PHY data rate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989320" y="2880360"/>
            <a:ext cx="4754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5120640"/>
            <a:ext cx="429768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3108960"/>
            <a:ext cx="0" cy="201168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3108960"/>
            <a:ext cx="1074420" cy="78232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2340" y="3891280"/>
            <a:ext cx="1074420" cy="5588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4450080"/>
            <a:ext cx="1074420" cy="391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1180" y="4841240"/>
            <a:ext cx="1074420" cy="2794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5916" y="307695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0336" y="385927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4756" y="441807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09176" y="480923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83596" y="508863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953512"/>
            <a:ext cx="4535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Usable throughput drops with overhead/load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Symbols, chips and DSSS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2.4 GHz PHY spreads each 4-bit symbol into a 32-chip sequence.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109728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61872"/>
            <a:ext cx="502920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 bits → 1 symbol → 32 chips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240280"/>
            <a:ext cx="54864" cy="2286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3865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Rates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2679192"/>
            <a:ext cx="4096512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250,000 bit/s ÷ 4 = 62,500 symbols/s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62,500 × 32 = 2,000,000 chips/s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492240" y="155448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1554480"/>
            <a:ext cx="54864" cy="3474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17007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DSSS intuition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56832" y="1993392"/>
            <a:ext cx="40965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Direct-Sequence Spread Spectrum spreads information across a wider chip sequence. It can help synchronization and narrowband interference resistance, but it does not make links immune.</a:t>
            </a:r>
            <a:endParaRPr lang="en-US" sz="103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O-QPSK intuition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Students do not need full modulation math, but they should know the processing chain.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88720"/>
            <a:ext cx="7040880" cy="777240"/>
          </a:xfrm>
          <a:prstGeom prst="roundRect">
            <a:avLst>
              <a:gd name="adj" fmla="val 9412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53312"/>
            <a:ext cx="6766560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Bits → Symbols → Chip sequences → O-QPSK waveform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377440"/>
            <a:ext cx="54864" cy="265176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523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O-QPSK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2816352"/>
            <a:ext cx="41879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Offset Quadrature Phase-Shift Keying offsets component transitions to limit abrupt phase changes.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44805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377440"/>
            <a:ext cx="54864" cy="2651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52374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Receiver view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2816352"/>
            <a:ext cx="41879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The receiver reverses the chain: waveform → chips → symbols → bits, if the signal can be synchronized and decoded.</a:t>
            </a:r>
            <a:endParaRPr lang="en-US" sz="10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 frame: PPDU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The PHY frame wraps the MAC frame.</a:t>
            </a:r>
            <a:endParaRPr lang="en-US" sz="9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143000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Preamble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4 bytes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synchronization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SFD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 byte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frame boundary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PHR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1 byte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payload length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PSDU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0–127 bytes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F33"/>
                          </a:solidFill>
                        </a:rPr>
                        <a:t>MAC frame</a:t>
                      </a:r>
                      <a:endParaRPr lang="en-US" sz="1300" dirty="0"/>
                    </a:p>
                  </a:txBody>
                  <a:tcPr marL="73152" marR="73152" marT="73152" marB="73152">
                    <a:lnL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05840" y="489204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5056632"/>
            <a:ext cx="969264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Maximum application payload is smaller than 127 bytes after MAC/security overhead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Energy Detection and CCA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Before MAC protocols, the PHY can sense energy or channel occupancy.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23444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234440"/>
            <a:ext cx="54864" cy="34290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3807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Energy Detection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33272" y="1673352"/>
            <a:ext cx="427939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Measures received energy in the selected channel. It does not identify the transmitter, protocol, or decodability.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400800" y="1234440"/>
            <a:ext cx="45720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234440"/>
            <a:ext cx="54864" cy="3429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3807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Clear-Channel Assessment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1673352"/>
            <a:ext cx="4279392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Determines whether the channel appears busy before transmission. It supports CSMA/CA but cannot prevent every collision.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280160" y="5166360"/>
            <a:ext cx="9418320" cy="502920"/>
          </a:xfrm>
          <a:prstGeom prst="roundRect">
            <a:avLst>
              <a:gd name="adj" fmla="val 14545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330952"/>
            <a:ext cx="914400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CCA sees the channel at the sender, not necessarily at the receiver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 — IEEE 802.15.4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2.4 GHz coexistence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IEEE 802.15.4 shares spectrum with louder neighbors.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1188720"/>
            <a:ext cx="480060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Wi‑Fi / IEEE 802.11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Bluetooth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IEEE 802.15.4 networks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Microwave ovens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Industrial equipment</a:t>
            </a:r>
            <a:endParaRPr lang="en-US" sz="1600" dirty="0"/>
          </a:p>
          <a:p>
            <a:r>
              <a:rPr lang="en-US" sz="16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Proprietary wireless devices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4805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325880"/>
            <a:ext cx="54864" cy="3246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47218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Consequences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5392" y="1764792"/>
            <a:ext cx="4187952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Increased packet loss, reduced PRR, retransmissions, higher energy, longer delay, route changes and apparent asymmetry.</a:t>
            </a:r>
            <a:endParaRPr lang="en-US" sz="103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pic>
        <p:nvPicPr>
          <p:cNvPr id="3" name="Image 0" descr="/mnt/data/a_wide_realistic_modern_classroom_computer_lab_s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65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3">
              <a:alpha val="50000"/>
            </a:srgbClr>
          </a:solidFill>
          <a:ln w="12700">
            <a:solidFill>
              <a:srgbClr val="08203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051560"/>
            <a:ext cx="1554480" cy="256032"/>
          </a:xfrm>
          <a:prstGeom prst="roundRect">
            <a:avLst>
              <a:gd name="adj" fmla="val 14286"/>
            </a:avLst>
          </a:prstGeom>
          <a:solidFill>
            <a:srgbClr val="00A896">
              <a:alpha val="96000"/>
            </a:srgbClr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11064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SECTION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E: Cooja lab with Contiki 3.0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58368" y="25603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FFF"/>
                </a:solidFill>
              </a:rPr>
              <a:t>Old Instant Cooja inside VMware — no Contiki-NG assumptions.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section break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52/60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Cooja/Contiki 3.0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Toolchain reality for this course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Everything runs in Instant Contiki 3.0 inside VMware.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11430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143000"/>
            <a:ext cx="54864" cy="3383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289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Use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1581912"/>
            <a:ext cx="30906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Instant Contiki 3.0 VM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VMware Player/Workstation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Old Cooja simulator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Contiki 3 examples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1430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143000"/>
            <a:ext cx="54864" cy="338328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289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Avoid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9432" y="1581912"/>
            <a:ext cx="30906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Contiki-NG APIs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New TSCH tutorials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Modern Docker-only instructions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Changed directory names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046720" y="11430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143000"/>
            <a:ext cx="54864" cy="338328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1289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Start Cooja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11312" y="1581912"/>
            <a:ext cx="309067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cd ~/contiki/tools/cooja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ant run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Alternative from project: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make file.cooja TARGET=cooja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554480" y="5120640"/>
            <a:ext cx="914400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5285232"/>
            <a:ext cx="88696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In labs, tool reproducibility beats latest-version elegance</a:t>
            </a:r>
            <a:endParaRPr lang="en-US" sz="2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Cooja/Contiki 3.0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Old Cooja radio media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Simulation result = code + topology + radio model.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097280"/>
            <a:ext cx="3246120" cy="37490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097280"/>
            <a:ext cx="54864" cy="374904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UDGM: Distance Loss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41832" y="1536192"/>
            <a:ext cx="295351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Simple range/interference behavior; good for first experiments and visualizing distance effects.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3246120" cy="37490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097280"/>
            <a:ext cx="54864" cy="374904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Directed Graph Radio Medium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45152" y="1536192"/>
            <a:ext cx="295351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Manually define directional links; ideal for asymmetry demonstrations.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83880" y="1097280"/>
            <a:ext cx="3246120" cy="37490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097280"/>
            <a:ext cx="54864" cy="3749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2435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MRM / richer models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48472" y="1536192"/>
            <a:ext cx="2953512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If present in your VM, use carefully; still an approximation, not field truth.</a:t>
            </a:r>
            <a:endParaRPr lang="en-US" sz="103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objective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Measure RSSI, LQI and PRR in old Cooja and explain why they disagree.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557784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sender and one receiver application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numbered packets periodically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sequence number, RSSI, LQI and sender ID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nodes and modify radio-medium settings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PRR over a defined observation window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metric disagreement using propagation concepts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49440" y="1554480"/>
            <a:ext cx="37490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554480"/>
            <a:ext cx="54864" cy="3108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4032" y="17007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Deliverable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14032" y="1993392"/>
            <a:ext cx="345643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One-page lab report with screenshot, topology, radio model, table of results and interpretation.</a:t>
            </a:r>
            <a:endParaRPr lang="en-US" sz="103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lab setup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lab folder and files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Keep it simple and compatible with old Contiki.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051560"/>
            <a:ext cx="5669280" cy="685800"/>
          </a:xfrm>
          <a:prstGeom prst="roundRect">
            <a:avLst>
              <a:gd name="adj" fmla="val 10667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216152"/>
            <a:ext cx="5394960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~/contiki/examples/week2-radio/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14400" y="2148840"/>
            <a:ext cx="4389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48840"/>
            <a:ext cx="54864" cy="25603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295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Files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78992" y="2587752"/>
            <a:ext cx="40965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week2-sender.c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week2-receiver.c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Makefile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week2-template.csc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results-template.csv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43891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48840"/>
            <a:ext cx="54864" cy="256032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951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Makefile idea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3952" y="2587752"/>
            <a:ext cx="4096512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CONTIKI = ../..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all: week2-sender week2-receiver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include $(CONTIKI)/Makefile.include</a:t>
            </a:r>
            <a:endParaRPr lang="en-US" sz="103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lab code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Receiver-side logging idea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Old Contiki/Rime style: log packet attributes.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0789920" cy="4526280"/>
          </a:xfrm>
          <a:prstGeom prst="roundRect">
            <a:avLst>
              <a:gd name="adj" fmla="val 101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1024128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recv(struct broadcast_conn *c,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const linkaddr_t *from)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uint16_t seq = packetbuf_attr(PACKETBUF_ATTR_PACKET_ID);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rssi = packetbuf_attr(PACKETBUF_ATTR_RSSI);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lqi  = packetbuf_attr(PACKETBUF_ATTR_LINK_QUALITY);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printf("from=%u.%u seq=%u rssi=%d lqi=%d\n",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from-&gt;u8[0], from-&gt;u8[1], seq, rssi, lqi);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A"/>
                </a:solidFill>
              </a:rPr>
              <a:t>Exact attribute behavior can differ by radio model; students must report their Cooja radio medium.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lab experiment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Part A — baseline direct link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Start with a clean two-node topology.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0160" y="18288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6D6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4206240" y="1828800"/>
            <a:ext cx="914400" cy="14630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00A896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560320"/>
            <a:ext cx="2743200" cy="0"/>
          </a:xfrm>
          <a:prstGeom prst="line">
            <a:avLst/>
          </a:prstGeom>
          <a:noFill/>
          <a:ln w="12700">
            <a:solidFill>
              <a:srgbClr val="00A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267712"/>
            <a:ext cx="585216" cy="585216"/>
          </a:xfrm>
          <a:prstGeom prst="ellipse">
            <a:avLst/>
          </a:prstGeom>
          <a:solidFill>
            <a:srgbClr val="1F77B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53712" y="2267712"/>
            <a:ext cx="585216" cy="58521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77A"/>
                </a:solidFill>
              </a:rPr>
              <a:t>Sender → Receiver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1234440"/>
            <a:ext cx="44805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Radio medium: UDGM Distance Loss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nodes close enough for high PRR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for at least 100 packets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or copy receiver logs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PRR from sequence numbers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4846320"/>
            <a:ext cx="429768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5010912"/>
            <a:ext cx="402336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Baseline first; chaos later</a:t>
            </a:r>
            <a:endParaRPr lang="en-US" sz="2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lab experiment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Part B — distance and transitional region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Move the receiver gradually and watch metrics change.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68680" y="114300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023360"/>
            <a:ext cx="4663440" cy="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1371600"/>
            <a:ext cx="0" cy="2651760"/>
          </a:xfrm>
          <a:prstGeom prst="line">
            <a:avLst/>
          </a:prstGeom>
          <a:noFill/>
          <a:ln w="12700">
            <a:solidFill>
              <a:srgbClr val="8DA2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371600"/>
            <a:ext cx="777240" cy="54675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426275"/>
            <a:ext cx="777240" cy="82013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508289"/>
            <a:ext cx="777240" cy="519417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2027706"/>
            <a:ext cx="777240" cy="765456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793162"/>
            <a:ext cx="777240" cy="765456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3558619"/>
            <a:ext cx="777240" cy="464741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5276" y="133959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42516" y="1394271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19756" y="147628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6996" y="199570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4236" y="276115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1476" y="352661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28716" y="399135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" y="1216152"/>
            <a:ext cx="4901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77A"/>
                </a:solidFill>
              </a:rPr>
              <a:t>PRR vs. distance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44805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143000"/>
            <a:ext cx="54864" cy="3108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128930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Student task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65392" y="1581912"/>
            <a:ext cx="4187952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For each position, record average RSSI, average LQI, received count, missing count and PRR. Identify connected, transitional and disconnected regions.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234440" y="5074920"/>
            <a:ext cx="969264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239512"/>
            <a:ext cx="941832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Do not infer real-world range directly from Cooja distance</a:t>
            </a:r>
            <a:endParaRPr lang="en-US" sz="2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F8FBF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6400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 — useful links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18520" y="6510528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C8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60/60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12700">
            <a:solidFill>
              <a:srgbClr val="D8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474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Useful links and lab references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A"/>
                </a:solidFill>
              </a:rPr>
              <a:t>Stable references for the old Contiki/Cooja workflow and radio background.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143000"/>
            <a:ext cx="54864" cy="91440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2893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Contiki 3.0 release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15819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https://github.com/contiki-os/contiki/releases/tag/3.0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731520" y="2286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4323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Cooja introduction wiki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27249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https://github.com/contiki-os/contiki/wiki/An-Introduction-to-Cooja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31520" y="34290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29000"/>
            <a:ext cx="54864" cy="914400"/>
          </a:xfrm>
          <a:prstGeom prst="rect">
            <a:avLst/>
          </a:prstGeom>
          <a:solidFill>
            <a:srgbClr val="6D5DFB"/>
          </a:solidFill>
          <a:ln w="12700">
            <a:solidFill>
              <a:srgbClr val="6D5DF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57530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CC2420 datasheet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3867912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https://www.ti.com/lit/ds/symlink/cc2420.pdf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355080" y="114300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14300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28930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IEEE 802.15.4 topic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9672" y="158191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https://standards.ieee.org/ieee/802.15.4/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355080" y="228600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286000"/>
            <a:ext cx="54864" cy="9144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243230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Course lab rule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19672" y="272491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Run labs only in Instant Contiki 3.0 / old Cooja / VMware unless explicitly told otherwise.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355080" y="342900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5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429000"/>
            <a:ext cx="54864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3575304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3"/>
                </a:solidFill>
              </a:rPr>
              <a:t>Week 3 bridge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19672" y="3867912"/>
            <a:ext cx="4599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5B677A"/>
                </a:solidFill>
              </a:rPr>
              <a:t>Energy analysis starts with radio states: transmit, receive/listen, idle and sleep.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1417320" y="5257800"/>
            <a:ext cx="9144000" cy="594360"/>
          </a:xfrm>
          <a:prstGeom prst="roundRect">
            <a:avLst>
              <a:gd name="adj" fmla="val 12308"/>
            </a:avLst>
          </a:prstGeom>
          <a:solidFill>
            <a:srgbClr val="EDF7FA"/>
          </a:solidFill>
          <a:ln w="12700">
            <a:solidFill>
              <a:srgbClr val="B6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54480" y="5422392"/>
            <a:ext cx="8869680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B1F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Week 2 mantra: measure the link, do not assume the link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CFE9843B9CD54095FA5974CE6AA937" ma:contentTypeVersion="3" ma:contentTypeDescription="Create a new document." ma:contentTypeScope="" ma:versionID="2d3a4f5b3a72134a3a4f8027884dd868">
  <xsd:schema xmlns:xsd="http://www.w3.org/2001/XMLSchema" xmlns:xs="http://www.w3.org/2001/XMLSchema" xmlns:p="http://schemas.microsoft.com/office/2006/metadata/properties" xmlns:ns2="7f6e6009-aa9c-4971-8c54-fad4e8cea4c3" targetNamespace="http://schemas.microsoft.com/office/2006/metadata/properties" ma:root="true" ma:fieldsID="9be88fa296c6bc85c2000bf4f3d07248" ns2:_="">
    <xsd:import namespace="7f6e6009-aa9c-4971-8c54-fad4e8cea4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6e6009-aa9c-4971-8c54-fad4e8cea4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74B554-BF7A-4C7B-B135-8A2985A91145}"/>
</file>

<file path=customXml/itemProps2.xml><?xml version="1.0" encoding="utf-8"?>
<ds:datastoreItem xmlns:ds="http://schemas.openxmlformats.org/officeDocument/2006/customXml" ds:itemID="{9082378B-7FEE-47DC-8283-C24257EC0416}"/>
</file>

<file path=customXml/itemProps3.xml><?xml version="1.0" encoding="utf-8"?>
<ds:datastoreItem xmlns:ds="http://schemas.openxmlformats.org/officeDocument/2006/customXml" ds:itemID="{DF287AA3-2AB8-4CDC-A849-A10A0A36FE4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CSE WSN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— Radio &amp; Physical Layer</dc:title>
  <dc:subject>Wireless Sensor Networks Week 2</dc:subject>
  <dc:creator>OpenAI</dc:creator>
  <cp:lastModifiedBy>OpenAI</cp:lastModifiedBy>
  <cp:revision>1</cp:revision>
  <dcterms:created xsi:type="dcterms:W3CDTF">2026-09-20T12:00:30Z</dcterms:created>
  <dcterms:modified xsi:type="dcterms:W3CDTF">2026-09-20T12:00:30Z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0x0101007DCFE9843B9CD54095FA5974CE6AA937</vt:lpwstr>
  </property>
</Properties>
</file>