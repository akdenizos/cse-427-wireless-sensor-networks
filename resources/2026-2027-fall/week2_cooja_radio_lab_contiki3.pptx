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09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class as a 70-minute guided experiment. Students will manipulate the radio environment directly, not solve a theory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Week 2: path loss, RSSI, LQI, PRR, transitional region. The lab is intentionally small so the radio effects are not hidden by routing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grading light: completion, screenshots, and a small measurement table. The objective is hands-on familiarity.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this is intentionally not RPL, not 6LoWPAN, and not application-layer networking. Broadcast keeps the experiment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version change: this deck is for old Contiki 3.0/Instant Contiki. The command and code differ from Contiki-NG.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instructor-facing. Decide whether to hide it when exporting a student-facing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 code is included in later slides and should also be distributed as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UDGM is intentionally used first because its simplifications are visible and teachable.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Sky Mote is missing, the MSPSim submodule is still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confuse Rime channel IDs with PHY channels. Make the distinction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interval is a pedagogical parameter as much as a technical one. Keep it slow for the first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directly to PRR: PRR is not guessed; it is counted from observed sequence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 the exact numbers. They are illustrative and radio/platform 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difference: LQI describes a received frame; PRR describes many transmissions.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small windows for time management. Explain that larger windows are more stable but slower.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these are simulation controls, not exact physical constants. The point is to see what each knob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UDGM as realism. Present it as the simplest controlled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their first success checkpoint. Make sure every student can see both sender and receiver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workflow tactile: move node, start, watch, pause,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student submission can be this table plus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students remember. The boundary makes UDGM’s simplification very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distinguishes physical movement from probabilistic reception. Same geometry, different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should be quick. They are not analyzing statistics; they are turning observations into a basic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MRM as comparison, not as a rabbit hole. Do not ask students to tune ray-tracing equations in this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point: simulation knobs are abstractions. The same numeric value may not transfer to a real classroom, corridor, or outdoor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interference range briefly so the parameter is not mysterious, but do not let it steal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parameter is ideal for a first lab because it creates visible packet loss on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directly to the Week 2 study guide’s comparison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keeps assessment aligned with hands-on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this happens during class, pause and fix centrally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prepared .csc saves the class if several students get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code appendix. These slides can be used when explaining what the provided files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PROCESS, AUTOSTART_PROCESSES, the broadcast connection, and the callback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etimer, seq++, packetbuf_copyfrom, broadcast_send, and printf.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receiver also opens the same Rime broadcast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packetbuf_datalen, packetbuf_dataptr, memcpy, and packetbuf_attr.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PROCESS_YIELD keeps the receiver alive while callbacks handle packets.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Cooja compiles from the selected .c file but still uses the build system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 the optional compile command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what changed when only the simulator parameter changed and when only the position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DF8"/>
                </a:solidFill>
              </a:rPr>
              <a:t>Week 2 Cooja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4264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DE5E1"/>
                </a:solidFill>
              </a:rPr>
              <a:t>Radio Propagation &amp; Link Quality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6080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4BC"/>
                </a:solidFill>
              </a:rPr>
              <a:t>Contiki 3.0 · Old Cooja · Sky motes · Rime broadcast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321040" y="1417320"/>
            <a:ext cx="502920" cy="502920"/>
          </a:xfrm>
          <a:prstGeom prst="ellipse">
            <a:avLst/>
          </a:prstGeom>
          <a:solidFill>
            <a:srgbClr val="E2A23A"/>
          </a:solidFill>
          <a:ln w="12700">
            <a:solidFill>
              <a:srgbClr val="E2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87000" y="4160520"/>
            <a:ext cx="502920" cy="502920"/>
          </a:xfrm>
          <a:prstGeom prst="ellipse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23960" y="1783080"/>
            <a:ext cx="1481328" cy="2377440"/>
          </a:xfrm>
          <a:prstGeom prst="line">
            <a:avLst/>
          </a:prstGeom>
          <a:noFill/>
          <a:ln w="25400">
            <a:solidFill>
              <a:srgbClr val="F5E4B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18120" y="4983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DF8"/>
                </a:solidFill>
              </a:rPr>
              <a:t>hands-on simulator work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DF8"/>
                </a:solidFill>
              </a:rPr>
              <a:t>not a written problem set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LECTURE CONTEXT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Why this lab exists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5029200" cy="128016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A8C82"/>
                </a:solidFill>
              </a:rPr>
              <a:t>Core lesson
</a:t>
            </a:r>
            <a:r>
              <a:rPr lang="en-US" sz="1600" dirty="0">
                <a:solidFill>
                  <a:srgbClr val="1E252B"/>
                </a:solidFill>
              </a:rPr>
              <a:t>A wireless link is not just “connected” or “disconnected”. It is a time-varying communication process with a probability of successful packet delivery.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1417320"/>
            <a:ext cx="534924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Distance affects average received power, but does not fully determine link reliability.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RSSI, LQI, and PRR measure different things.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The selected Cooja radio medium changes what students observe.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One sender + one receiver is enough to make the PHY/link-layer behavior visible.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4846320"/>
            <a:ext cx="2251710" cy="68580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move a node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75838" y="508863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3310" y="4846320"/>
            <a:ext cx="2251710" cy="685800"/>
          </a:xfrm>
          <a:prstGeom prst="rect">
            <a:avLst/>
          </a:prstGeom>
          <a:solidFill>
            <a:srgbClr val="FFF0D1"/>
          </a:solidFill>
          <a:ln w="13970">
            <a:solidFill>
              <a:srgbClr val="E2A2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watch packets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39028" y="508863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86500" y="4846320"/>
            <a:ext cx="2251710" cy="68580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count losses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02218" y="508863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49690" y="4846320"/>
            <a:ext cx="2251710" cy="685800"/>
          </a:xfrm>
          <a:prstGeom prst="rect">
            <a:avLst/>
          </a:prstGeom>
          <a:solidFill>
            <a:srgbClr val="FFF0D1"/>
          </a:solidFill>
          <a:ln w="13970">
            <a:solidFill>
              <a:srgbClr val="E2A2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compare models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WHAT STUDENTS SHOULD DO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Learning outcomes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537667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By the 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1417320"/>
            <a:ext cx="537667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Evidence in lab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746504"/>
            <a:ext cx="5376672" cy="64312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Start and configure old Cooja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1746504"/>
            <a:ext cx="5376672" cy="64312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ant run, new simulation, Sky motes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407920"/>
            <a:ext cx="5376672" cy="643128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Send numbered packets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2407920"/>
            <a:ext cx="5376672" cy="643128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TX seq=... printed by sender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069336"/>
            <a:ext cx="5376672" cy="64312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Observe received packets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3069336"/>
            <a:ext cx="5376672" cy="64312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RX seq=... RSSI=... LQI=...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730752"/>
            <a:ext cx="5376672" cy="643128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Create packet loss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3730752"/>
            <a:ext cx="5376672" cy="643128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missing sequence numbers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392168"/>
            <a:ext cx="5376672" cy="64312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Estimate PRR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4392168"/>
            <a:ext cx="5376672" cy="64312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received / sent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053584"/>
            <a:ext cx="5376672" cy="643128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Compare propagation models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5053584"/>
            <a:ext cx="5376672" cy="643128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UDGM vs MRM behavior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SYSTEM OVERVIEW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Lab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4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1993392" y="2697480"/>
            <a:ext cx="8083296" cy="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1984248"/>
            <a:ext cx="1426464" cy="1426464"/>
          </a:xfrm>
          <a:prstGeom prst="arc">
            <a:avLst/>
          </a:prstGeom>
          <a:solidFill>
            <a:srgbClr val="FBF7EF">
              <a:alpha val="0"/>
            </a:srgbClr>
          </a:solidFill>
          <a:ln w="13970">
            <a:solidFill>
              <a:srgbClr val="2A8C82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1618488"/>
            <a:ext cx="2157984" cy="2157984"/>
          </a:xfrm>
          <a:prstGeom prst="arc">
            <a:avLst/>
          </a:prstGeom>
          <a:solidFill>
            <a:srgbClr val="FBF7EF">
              <a:alpha val="0"/>
            </a:srgbClr>
          </a:solidFill>
          <a:ln w="12700">
            <a:solidFill>
              <a:srgbClr val="2A8C82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81328" y="2441448"/>
            <a:ext cx="512064" cy="512064"/>
          </a:xfrm>
          <a:prstGeom prst="ellipse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76688" y="2441448"/>
            <a:ext cx="512064" cy="512064"/>
          </a:xfrm>
          <a:prstGeom prst="ellipse">
            <a:avLst/>
          </a:prstGeom>
          <a:solidFill>
            <a:srgbClr val="E2A23A"/>
          </a:solidFill>
          <a:ln w="12700">
            <a:solidFill>
              <a:srgbClr val="E2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Sender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Sky mote 1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955548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Receiver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Sky mote 2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5120640" cy="114300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2A23A"/>
                </a:solidFill>
              </a:rPr>
              <a:t>Traffic pattern
</a:t>
            </a:r>
            <a:r>
              <a:rPr lang="en-US" sz="1450" dirty="0">
                <a:solidFill>
                  <a:srgbClr val="1E252B"/>
                </a:solidFill>
              </a:rPr>
              <a:t>Sender broadcasts one sequence number per second. Receiver prints the sequence number plus RSSI and LQI for each successfully received packet.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4663440" cy="114300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Why broadcast?
</a:t>
            </a:r>
            <a:r>
              <a:rPr lang="en-US" sz="1450" dirty="0">
                <a:solidFill>
                  <a:srgbClr val="1E252B"/>
                </a:solidFill>
              </a:rPr>
              <a:t>It avoids routing, addressing, and IPv6 configuration. The lab remains focused on radio propagation and link quality.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CONTIKI 3.0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Version-specific setup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5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493776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52B"/>
                </a:solidFill>
              </a:rPr>
              <a:t>• Use classic Contiki 3.0, not Contiki-NG.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52B"/>
                </a:solidFill>
              </a:rPr>
              <a:t>• Launch Cooja with Apache Ant: ant run.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52B"/>
                </a:solidFill>
              </a:rPr>
              <a:t>• Use Sky motes through MSPSim.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52B"/>
                </a:solidFill>
              </a:rPr>
              <a:t>• Use Rime broadcast, not NullNet.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52B"/>
                </a:solidFill>
              </a:rPr>
              <a:t>• Use UDGM Distance Loss and optional MRM.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600200"/>
            <a:ext cx="4206240" cy="100584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~/contiki-3.0/tools/cooja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 run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4206240" cy="1051560"/>
          </a:xfrm>
          <a:prstGeom prst="rect">
            <a:avLst/>
          </a:prstGeom>
          <a:solidFill>
            <a:srgbClr val="FBE6E6"/>
          </a:solidFill>
          <a:ln w="15240">
            <a:solidFill>
              <a:srgbClr val="C94C4C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4C4C"/>
                </a:solidFill>
              </a:rPr>
              <a:t>Instructor warning
</a:t>
            </a:r>
            <a:r>
              <a:rPr lang="en-US" sz="1500" dirty="0">
                <a:solidFill>
                  <a:srgbClr val="1E252B"/>
                </a:solidFill>
              </a:rPr>
              <a:t>Fix MSPSim before class. Do not let the lab become a dependency-repair session.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BEFORE CLASS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Instructor pre-lab checklist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6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5303520" cy="356616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~/contiki-3.0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it is a git repository: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submodule update --init --recursive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start Cooja: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tools/cooja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 run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446520" y="1371600"/>
            <a:ext cx="4709160" cy="1234440"/>
          </a:xfrm>
          <a:prstGeom prst="rect">
            <a:avLst/>
          </a:prstGeom>
          <a:solidFill>
            <a:srgbClr val="FBE6E6"/>
          </a:solidFill>
          <a:ln w="15240">
            <a:solidFill>
              <a:srgbClr val="C94C4C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4C4C"/>
                </a:solidFill>
              </a:rPr>
              <a:t>MSPSim error symptom
</a:t>
            </a:r>
            <a:r>
              <a:rPr lang="en-US" sz="1400" dirty="0">
                <a:solidFill>
                  <a:srgbClr val="1E252B"/>
                </a:solidFill>
              </a:rPr>
              <a:t>“Could not find the MSPSim build file. Did you run git submodule update --init?” means Sky motes cannot be emulated yet.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926080"/>
            <a:ext cx="4709160" cy="100584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2A23A"/>
                </a:solidFill>
              </a:rPr>
              <a:t>Student handout choice
</a:t>
            </a:r>
            <a:r>
              <a:rPr lang="en-US" sz="1400" dirty="0">
                <a:solidFill>
                  <a:srgbClr val="1E252B"/>
                </a:solidFill>
              </a:rPr>
              <a:t>Keep this repair procedure out of the student version unless needed. Fix the VM/image once.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LAB MATERIALS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Folder and files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7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5120640" cy="178308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~/contiki-3.0/examples/week2-radio/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sender.c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receiver.c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Makefile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0" y="1417320"/>
            <a:ext cx="484632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Students browse to sender.c and receiver.c from Cooja.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Compile each as a separate Sky mote type.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Create exactly one sender and one receiver.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Save simulations as .csc files when instructed.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10424160" cy="86868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A8C82"/>
                </a:solidFill>
              </a:rPr>
              <a:t>Practical choice
</a:t>
            </a:r>
            <a:r>
              <a:rPr lang="en-US" sz="1500" dirty="0">
                <a:solidFill>
                  <a:srgbClr val="1E252B"/>
                </a:solidFill>
              </a:rPr>
              <a:t>Provide the files. Do not ask students to type C code during the 70-minute lab.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STUDENT STEPS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Create the Cooja simulation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2388870" cy="82296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File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30118" y="17282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77590" y="1417320"/>
            <a:ext cx="2388870" cy="822960"/>
          </a:xfrm>
          <a:prstGeom prst="rect">
            <a:avLst/>
          </a:prstGeom>
          <a:solidFill>
            <a:srgbClr val="FFF0D1"/>
          </a:solidFill>
          <a:ln w="13970">
            <a:solidFill>
              <a:srgbClr val="E2A2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New simulation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0468" y="17282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7940" y="1417320"/>
            <a:ext cx="2388870" cy="82296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Name: Week2-Radio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830818" y="17282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78290" y="1417320"/>
            <a:ext cx="2388870" cy="822960"/>
          </a:xfrm>
          <a:prstGeom prst="rect">
            <a:avLst/>
          </a:prstGeom>
          <a:solidFill>
            <a:srgbClr val="FFF0D1"/>
          </a:solidFill>
          <a:ln w="13970">
            <a:solidFill>
              <a:srgbClr val="E2A2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UDGM Distance Loss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50292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Launch from ~/contiki-3.0/tools/cooja.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Choose “Unit Disk Graph Medium (UDGM): Distance Loss”.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Keep the simulation simple: two Sky motes only.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Open Mote Output and Network/Visualizer immediately.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4389120" cy="109728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~/contiki-3.0/tools/cooja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 run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STUDENT STEPS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Create the two Sky mote types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10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357835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DF8"/>
                </a:solidFill>
              </a:rPr>
              <a:t>Mote type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373880" y="1417320"/>
            <a:ext cx="357835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DF8"/>
                </a:solidFill>
              </a:rPr>
              <a:t>Source file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970520" y="1417320"/>
            <a:ext cx="357835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DF8"/>
                </a:solidFill>
              </a:rPr>
              <a:t>Quantity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77240" y="1746504"/>
            <a:ext cx="3578352" cy="480060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52B"/>
                </a:solidFill>
              </a:rPr>
              <a:t>Sender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373880" y="1746504"/>
            <a:ext cx="3578352" cy="480060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E252B"/>
                </a:solidFill>
              </a:rPr>
              <a:t>/home/user/contiki-3.0/examples/week2-radio/sender.c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970520" y="1746504"/>
            <a:ext cx="3578352" cy="480060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E252B"/>
                </a:solidFill>
              </a:rPr>
              <a:t>1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777240" y="2244852"/>
            <a:ext cx="3578352" cy="480060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52B"/>
                </a:solidFill>
              </a:rPr>
              <a:t>Receiver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373880" y="2244852"/>
            <a:ext cx="3578352" cy="480060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E252B"/>
                </a:solidFill>
              </a:rPr>
              <a:t>/home/user/contiki-3.0/examples/week2-radio/receiver.c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970520" y="2244852"/>
            <a:ext cx="3578352" cy="480060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E252B"/>
                </a:solidFill>
              </a:rPr>
              <a:t>1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14400" y="3108960"/>
            <a:ext cx="512064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Motes → Add motes → Create new mote type → Sky Mote.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Compile sender.c, then create one sender.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Compile receiver.c, then create one receiver.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Place sender left, receiver right.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79792" y="3886200"/>
            <a:ext cx="2596896" cy="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0528" y="3172968"/>
            <a:ext cx="1426464" cy="1426464"/>
          </a:xfrm>
          <a:prstGeom prst="arc">
            <a:avLst/>
          </a:prstGeom>
          <a:solidFill>
            <a:srgbClr val="FBF7EF">
              <a:alpha val="0"/>
            </a:srgbClr>
          </a:solidFill>
          <a:ln w="13970">
            <a:solidFill>
              <a:srgbClr val="2A8C82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44768" y="2807208"/>
            <a:ext cx="2157984" cy="2157984"/>
          </a:xfrm>
          <a:prstGeom prst="arc">
            <a:avLst/>
          </a:prstGeom>
          <a:solidFill>
            <a:srgbClr val="FBF7EF">
              <a:alpha val="0"/>
            </a:srgbClr>
          </a:solidFill>
          <a:ln w="12700">
            <a:solidFill>
              <a:srgbClr val="2A8C82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67728" y="3630168"/>
            <a:ext cx="512064" cy="512064"/>
          </a:xfrm>
          <a:prstGeom prst="ellipse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076688" y="3630168"/>
            <a:ext cx="512064" cy="512064"/>
          </a:xfrm>
          <a:prstGeom prst="ellipse">
            <a:avLst/>
          </a:prstGeom>
          <a:solidFill>
            <a:srgbClr val="E2A23A"/>
          </a:solidFill>
          <a:ln w="12700">
            <a:solidFill>
              <a:srgbClr val="E2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5029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Sender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Sky mote 1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9555480" y="5029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Receiver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Sky mote 2</a:t>
            </a:r>
            <a:endParaRPr lang="en-US" sz="10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CODE PARAMETER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Parameter: Rime broadcast channel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5486400" cy="68580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broadcast_open(&amp;broadcast, 129, &amp;broadcast_call);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1325880"/>
            <a:ext cx="4480560" cy="132588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What 129 means
</a:t>
            </a:r>
            <a:r>
              <a:rPr lang="en-US" sz="1450" dirty="0">
                <a:solidFill>
                  <a:srgbClr val="1E252B"/>
                </a:solidFill>
              </a:rPr>
              <a:t>It is the Rime broadcast channel identifier used by both sender and receiver. Both sides must use the same value to hear each other.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5349240" cy="114300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2A23A"/>
                </a:solidFill>
              </a:rPr>
              <a:t>Teaching point
</a:t>
            </a:r>
            <a:r>
              <a:rPr lang="en-US" sz="1450" dirty="0">
                <a:solidFill>
                  <a:srgbClr val="1E252B"/>
                </a:solidFill>
              </a:rPr>
              <a:t>This is not a physical IEEE 802.15.4 channel number. It is a software-level Rime channel ID.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3063240"/>
            <a:ext cx="443484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52B"/>
                </a:solidFill>
              </a:rPr>
              <a:t>• Change it only if both programs use the same new value.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52B"/>
                </a:solidFill>
              </a:rPr>
              <a:t>• Mismatch = no receiver output even if motes are close.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CODE PARAMETER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Parameter: packet interval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12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4846320" cy="118872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etimer_set(&amp;timer, CLOCK_SECOND);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etimer_reset(&amp;timer);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0" y="1325880"/>
            <a:ext cx="4937760" cy="132588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One packet per second
</a:t>
            </a:r>
            <a:r>
              <a:rPr lang="en-US" sz="1450" dirty="0">
                <a:solidFill>
                  <a:srgbClr val="1E252B"/>
                </a:solidFill>
              </a:rPr>
              <a:t>A slow interval makes sequence numbers readable in Mote Output. It also avoids turning the lab into a congestion experiment.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96926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Good for manual observation: students can count packets.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Shorter intervals create more traffic and can blur the PHY/link lesson.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For this lab: keep it at CLOCK_SECOND.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CODE PARAMETER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Parameter: sequence number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13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5257800" cy="182880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uint16_t seq = 0;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seq++;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packetbuf_copyfrom(&amp;seq, sizeof(seq));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printf("TX seq=%u\n", seq);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4480560" cy="132588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2A23A"/>
                </a:solidFill>
              </a:rPr>
              <a:t>Why it matters
</a:t>
            </a:r>
            <a:r>
              <a:rPr lang="en-US" sz="1450" dirty="0">
                <a:solidFill>
                  <a:srgbClr val="1E252B"/>
                </a:solidFill>
              </a:rPr>
              <a:t>Sequence numbers allow students to detect loss without packet sniffers. If RX jumps from 8 to 10, packet 9 was missed.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0" y="3154680"/>
            <a:ext cx="4480560" cy="109728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 seq=7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 seq=8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 seq=10   ← seq=9 missing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LINK-QUALITY METRIC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Parameter: RSSI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14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6400800" cy="114300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rssi_raw = (int8_t)packetbuf_attr(PACKETBUF_ATTR_RSSI);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rssi_dbm = ((int16_t)rssi_raw) - 45;</a:t>
            </a:r>
            <a:endParaRPr lang="en-US" sz="1310" dirty="0"/>
          </a:p>
        </p:txBody>
      </p:sp>
      <p:sp>
        <p:nvSpPr>
          <p:cNvPr id="9" name="Text 7"/>
          <p:cNvSpPr/>
          <p:nvPr/>
        </p:nvSpPr>
        <p:spPr>
          <a:xfrm>
            <a:off x="7360920" y="1325880"/>
            <a:ext cx="3931920" cy="128016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A8C82"/>
                </a:solidFill>
              </a:rPr>
              <a:t>Interpretation
</a:t>
            </a:r>
            <a:r>
              <a:rPr lang="en-US" sz="1400" dirty="0">
                <a:solidFill>
                  <a:srgbClr val="1E252B"/>
                </a:solidFill>
              </a:rPr>
              <a:t>RSSI is received signal strength. Less negative usually means stronger: −60 dBm is stronger than −90 dBm.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487375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Example RSSI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3063240"/>
            <a:ext cx="487375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Informal reading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392424"/>
            <a:ext cx="4873752" cy="42519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−50 dBm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392424"/>
            <a:ext cx="4873752" cy="42519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very strong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835908"/>
            <a:ext cx="4873752" cy="42519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−70 dBm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3835908"/>
            <a:ext cx="4873752" cy="42519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moderate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279392"/>
            <a:ext cx="4873752" cy="42519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−85 dBm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4279392"/>
            <a:ext cx="4873752" cy="42519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weak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722876"/>
            <a:ext cx="4873752" cy="42519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−95 dBm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4722876"/>
            <a:ext cx="4873752" cy="42519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very weak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LINK-QUALITY METRIC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Parameter: LQI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15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6035040" cy="150876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lqi = packetbuf_attr(PACKETBUF_ATTR_LINK_QUALITY);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printf("RX seq=%u RSSI=%d dBm LQI=%u\n",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seq, rssi_dbm, lqi);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086600" y="1325880"/>
            <a:ext cx="4343400" cy="150876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2A23A"/>
                </a:solidFill>
              </a:rPr>
              <a:t>Interpretation
</a:t>
            </a:r>
            <a:r>
              <a:rPr lang="en-US" sz="1350" dirty="0">
                <a:solidFill>
                  <a:srgbClr val="1E252B"/>
                </a:solidFill>
              </a:rPr>
              <a:t>LQI is quality information for a packet that was actually received. It is implementation-specific, so do not compare it as a universal physical unit.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51560" y="3337560"/>
            <a:ext cx="1005840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Useful for observing individual received packets.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Unavailable for packets that were never decoded.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A high LQI on one packet does not prove high long-term PRR.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LINK-QUALITY METRIC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Parameter: PRR measurement window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16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5486400" cy="658368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PRR = received packets / transmitted packets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1234440"/>
            <a:ext cx="4434840" cy="114300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In this lab
</a:t>
            </a:r>
            <a:r>
              <a:rPr lang="en-US" sz="1450" dirty="0">
                <a:solidFill>
                  <a:srgbClr val="1E252B"/>
                </a:solidFill>
              </a:rPr>
              <a:t>Use 10-packet windows for quick movement tests and one 20-packet window for the reduced-success experiment.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51560" y="2834640"/>
            <a:ext cx="49651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DF8"/>
                </a:solidFill>
              </a:rPr>
              <a:t>Window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35040" y="2834640"/>
            <a:ext cx="49651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DF8"/>
                </a:solidFill>
              </a:rPr>
              <a:t>Use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3163824"/>
            <a:ext cx="496519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E252B"/>
                </a:solidFill>
              </a:rPr>
              <a:t>10 packets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35040" y="3163824"/>
            <a:ext cx="496519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52B"/>
                </a:solidFill>
              </a:rPr>
              <a:t>quick observation while moving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3633216"/>
            <a:ext cx="4965192" cy="45110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E252B"/>
                </a:solidFill>
              </a:rPr>
              <a:t>20 packets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0" y="3633216"/>
            <a:ext cx="4965192" cy="45110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52B"/>
                </a:solidFill>
              </a:rPr>
              <a:t>small PRR measurement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1560" y="4102608"/>
            <a:ext cx="496519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E252B"/>
                </a:solidFill>
              </a:rPr>
              <a:t>30+ packets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35040" y="4102608"/>
            <a:ext cx="496519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52B"/>
                </a:solidFill>
              </a:rPr>
              <a:t>better but slower estimate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1560" y="4892040"/>
            <a:ext cx="9966960" cy="82296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2A23A"/>
                </a:solidFill>
              </a:rPr>
              <a:t>Teaching point
</a:t>
            </a:r>
            <a:r>
              <a:rPr lang="en-US" sz="1450" dirty="0">
                <a:solidFill>
                  <a:srgbClr val="1E252B"/>
                </a:solidFill>
              </a:rPr>
              <a:t>PRR is empirical. It requires multiple transmissions and depends on the chosen observation window.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RADIO MEDIUM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UDGM parameters: what students change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17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54223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DF8"/>
                </a:solidFill>
              </a:rPr>
              <a:t>Parameter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6172200" y="1325880"/>
            <a:ext cx="54223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DF8"/>
                </a:solidFill>
              </a:rPr>
              <a:t>Role in lab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31520" y="1655064"/>
            <a:ext cx="5422392" cy="49377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E252B"/>
                </a:solidFill>
              </a:rPr>
              <a:t>Transmission range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172200" y="1655064"/>
            <a:ext cx="5422392" cy="49377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E252B"/>
                </a:solidFill>
              </a:rPr>
              <a:t>inside this radius, packets may be received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31520" y="2167128"/>
            <a:ext cx="5422392" cy="49377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E252B"/>
                </a:solidFill>
              </a:rPr>
              <a:t>Interference range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6172200" y="2167128"/>
            <a:ext cx="5422392" cy="49377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E252B"/>
                </a:solidFill>
              </a:rPr>
              <a:t>larger area where transmissions may disturb reception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731520" y="2679192"/>
            <a:ext cx="5422392" cy="49377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E252B"/>
                </a:solidFill>
              </a:rPr>
              <a:t>TX success ratio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172200" y="2679192"/>
            <a:ext cx="5422392" cy="49377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E252B"/>
                </a:solidFill>
              </a:rPr>
              <a:t>probability a transmission succeeds at sender side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731520" y="3191256"/>
            <a:ext cx="5422392" cy="49377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E252B"/>
                </a:solidFill>
              </a:rPr>
              <a:t>RX success ratio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172200" y="3191256"/>
            <a:ext cx="5422392" cy="49377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E252B"/>
                </a:solidFill>
              </a:rPr>
              <a:t>probability a receivable packet is delivered at receiver side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14400" y="4069080"/>
            <a:ext cx="5029200" cy="105156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Default classroom setting
</a:t>
            </a:r>
            <a:r>
              <a:rPr lang="en-US" sz="1450" dirty="0">
                <a:solidFill>
                  <a:srgbClr val="1E252B"/>
                </a:solidFill>
              </a:rPr>
              <a:t>Start with a clean, almost deterministic link: TX success = 1.0, RX success = 1.0, transmission range ≈ 20 m.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55080" y="4069080"/>
            <a:ext cx="4800600" cy="105156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2A23A"/>
                </a:solidFill>
              </a:rPr>
              <a:t>Loss experiment setting
</a:t>
            </a:r>
            <a:r>
              <a:rPr lang="en-US" sz="1450" dirty="0">
                <a:solidFill>
                  <a:srgbClr val="1E252B"/>
                </a:solidFill>
              </a:rPr>
              <a:t>Then reduce RX success to about 0.6 while keeping the motes stationary. This creates visible missing sequence numbers.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RADIO MEDIUM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UDGM: what it teaches and hides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18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1947672" y="2331720"/>
            <a:ext cx="3145536" cy="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78408" y="1618488"/>
            <a:ext cx="1426464" cy="1426464"/>
          </a:xfrm>
          <a:prstGeom prst="arc">
            <a:avLst/>
          </a:prstGeom>
          <a:solidFill>
            <a:srgbClr val="FBF7EF">
              <a:alpha val="0"/>
            </a:srgbClr>
          </a:solidFill>
          <a:ln w="13970">
            <a:solidFill>
              <a:srgbClr val="2A8C82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" y="1252728"/>
            <a:ext cx="2157984" cy="2157984"/>
          </a:xfrm>
          <a:prstGeom prst="arc">
            <a:avLst/>
          </a:prstGeom>
          <a:solidFill>
            <a:srgbClr val="FBF7EF">
              <a:alpha val="0"/>
            </a:srgbClr>
          </a:solidFill>
          <a:ln w="12700">
            <a:solidFill>
              <a:srgbClr val="2A8C82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35608" y="2075688"/>
            <a:ext cx="512064" cy="512064"/>
          </a:xfrm>
          <a:prstGeom prst="ellipse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93208" y="2075688"/>
            <a:ext cx="512064" cy="512064"/>
          </a:xfrm>
          <a:prstGeom prst="ellipse">
            <a:avLst/>
          </a:prstGeom>
          <a:solidFill>
            <a:srgbClr val="E2A23A"/>
          </a:solidFill>
          <a:ln w="12700">
            <a:solidFill>
              <a:srgbClr val="E2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Sender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Sky mote 1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Receiver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Sky mote 2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583680" y="1325880"/>
            <a:ext cx="4389120" cy="96012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Teaches well
</a:t>
            </a:r>
            <a:r>
              <a:rPr lang="en-US" sz="1450" dirty="0">
                <a:solidFill>
                  <a:srgbClr val="1E252B"/>
                </a:solidFill>
              </a:rPr>
              <a:t>The idea of radio range and the effect of crossing a communication boundary.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0" y="2606040"/>
            <a:ext cx="4389120" cy="1143000"/>
          </a:xfrm>
          <a:prstGeom prst="rect">
            <a:avLst/>
          </a:prstGeom>
          <a:solidFill>
            <a:srgbClr val="FBE6E6"/>
          </a:solidFill>
          <a:ln w="15240">
            <a:solidFill>
              <a:srgbClr val="C94C4C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C94C4C"/>
                </a:solidFill>
              </a:rPr>
              <a:t>Hides badly
</a:t>
            </a:r>
            <a:r>
              <a:rPr lang="en-US" sz="1430" dirty="0">
                <a:solidFill>
                  <a:srgbClr val="1E252B"/>
                </a:solidFill>
              </a:rPr>
              <a:t>Real links do not usually have a perfectly sharp boundary. Transitional links can lose and receive packets at the same position.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960120" y="4434840"/>
            <a:ext cx="9966960" cy="77724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2A23A"/>
                </a:solidFill>
              </a:rPr>
              <a:t>How we use it
</a:t>
            </a:r>
            <a:r>
              <a:rPr lang="en-US" sz="1450" dirty="0">
                <a:solidFill>
                  <a:srgbClr val="1E252B"/>
                </a:solidFill>
              </a:rPr>
              <a:t>First as a simple visual baseline; then we deliberately show its limitation.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STUDENT ACTIONS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Hands-on A: first packets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19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521208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Press Start.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Watch TX seq=... from sender.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Watch RX seq=... RSSI=... LQI=... from receiver.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Pause after about 10 packets.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Verify that receiver sequence numbers follow sender sequence numbers.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1325880"/>
            <a:ext cx="4846320" cy="274320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TX seq=1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TX seq=2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TX seq=3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RX seq=1 RSSI=-63 dBm LQI=104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RX seq=2 RSSI=-64 dBm LQI=103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RX seq=3 RSSI=-64 dBm LQI=105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STUDENT ACTIONS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Hands-on B: distance positions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20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45643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Position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43400" y="1325880"/>
            <a:ext cx="345643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18120" y="1325880"/>
            <a:ext cx="345643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Run length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655064"/>
            <a:ext cx="3456432" cy="54254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Close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1655064"/>
            <a:ext cx="3456432" cy="54254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Place receiver close to sender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8120" y="1655064"/>
            <a:ext cx="3456432" cy="54254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10 packets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215896"/>
            <a:ext cx="3456432" cy="54254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Medium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2215896"/>
            <a:ext cx="3456432" cy="54254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Drag receiver farther away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2215896"/>
            <a:ext cx="3456432" cy="54254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10 packets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776728"/>
            <a:ext cx="3456432" cy="54254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Near edge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2776728"/>
            <a:ext cx="3456432" cy="54254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Move receiver near range boundary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2776728"/>
            <a:ext cx="3456432" cy="54254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10 packets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749040"/>
            <a:ext cx="5120640" cy="91440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Student instruction
</a:t>
            </a:r>
            <a:r>
              <a:rPr lang="en-US" sz="1450" dirty="0">
                <a:solidFill>
                  <a:srgbClr val="1E252B"/>
                </a:solidFill>
              </a:rPr>
              <a:t>Do not calculate averages. Record one typical RSSI/LQI range from what you actually see.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6520" y="3749040"/>
            <a:ext cx="4663440" cy="91440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2A23A"/>
                </a:solidFill>
              </a:rPr>
              <a:t>Instructor emphasis
</a:t>
            </a:r>
            <a:r>
              <a:rPr lang="en-US" sz="1450" dirty="0">
                <a:solidFill>
                  <a:srgbClr val="1E252B"/>
                </a:solidFill>
              </a:rPr>
              <a:t>They must physically drag the receiver. This is the point of the lab.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WORKSHEET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Student recording table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2167128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DF8"/>
                </a:solidFill>
              </a:rPr>
              <a:t>Position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16936" y="1325880"/>
            <a:ext cx="2167128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DF8"/>
                </a:solidFill>
              </a:rPr>
              <a:t>Sent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02352" y="1325880"/>
            <a:ext cx="2167128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DF8"/>
                </a:solidFill>
              </a:rPr>
              <a:t>Received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87768" y="1325880"/>
            <a:ext cx="2167128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DF8"/>
                </a:solidFill>
              </a:rPr>
              <a:t>Typical RSSI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473184" y="1325880"/>
            <a:ext cx="2167128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DF8"/>
                </a:solidFill>
              </a:rPr>
              <a:t>Typical LQI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1655064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52B"/>
                </a:solidFill>
              </a:rPr>
              <a:t>Close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16936" y="1655064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52B"/>
                </a:solidFill>
              </a:rPr>
              <a:t>10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02352" y="1655064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87768" y="1655064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73184" y="1655064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2258568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52B"/>
                </a:solidFill>
              </a:rPr>
              <a:t>Medium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16936" y="2258568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52B"/>
                </a:solidFill>
              </a:rPr>
              <a:t>10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02352" y="2258568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87768" y="2258568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73184" y="2258568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2862072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52B"/>
                </a:solidFill>
              </a:rPr>
              <a:t>Near edge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16936" y="2862072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52B"/>
                </a:solidFill>
              </a:rPr>
              <a:t>10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02352" y="2862072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87768" y="2862072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73184" y="2862072"/>
            <a:ext cx="2167128" cy="58521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3465576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52B"/>
                </a:solidFill>
              </a:rPr>
              <a:t>Reduced-success link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16936" y="3465576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52B"/>
                </a:solidFill>
              </a:rPr>
              <a:t>20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02352" y="3465576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287768" y="3465576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73184" y="3465576"/>
            <a:ext cx="2167128" cy="58521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4400" y="4526280"/>
            <a:ext cx="10424160" cy="86868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2A23A"/>
                </a:solidFill>
              </a:rPr>
              <a:t>Minimal writing
</a:t>
            </a:r>
            <a:r>
              <a:rPr lang="en-US" sz="1500" dirty="0">
                <a:solidFill>
                  <a:srgbClr val="1E252B"/>
                </a:solidFill>
              </a:rPr>
              <a:t>The table exists only to force observation. Do not turn this lab into a written exam.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STUDENT ACTIONS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Hands-on C: cross the boundary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22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837944" cy="77724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inside range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587752" y="16139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35224" y="1325880"/>
            <a:ext cx="1837944" cy="777240"/>
          </a:xfrm>
          <a:prstGeom prst="rect">
            <a:avLst/>
          </a:prstGeom>
          <a:solidFill>
            <a:srgbClr val="FFF0D1"/>
          </a:solidFill>
          <a:ln w="13970">
            <a:solidFill>
              <a:srgbClr val="E2A2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packets arrive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37176" y="16139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84648" y="1325880"/>
            <a:ext cx="1837944" cy="77724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drag outside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86600" y="16139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34072" y="1325880"/>
            <a:ext cx="1837944" cy="777240"/>
          </a:xfrm>
          <a:prstGeom prst="rect">
            <a:avLst/>
          </a:prstGeom>
          <a:solidFill>
            <a:srgbClr val="FFF0D1"/>
          </a:solidFill>
          <a:ln w="13970">
            <a:solidFill>
              <a:srgbClr val="E2A2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RX stops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36024" y="16139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83496" y="1325880"/>
            <a:ext cx="1837944" cy="77724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drag inside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2788920"/>
            <a:ext cx="1024128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Start with receiver just inside the transmission range.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Watch approximately five packets arrive.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Drag the receiver outside while the simulation is still running.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Sender continues printing TX; receiver output stops.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Drag back inside and observe reception resume.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STUDENT ACTIONS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Hands-on D: create controlled packet loss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23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74955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Step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45080" y="1325880"/>
            <a:ext cx="174955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Parameter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2920" y="1325880"/>
            <a:ext cx="174955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655064"/>
            <a:ext cx="1749552" cy="48234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45080" y="1655064"/>
            <a:ext cx="1749552" cy="48234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TX success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2920" y="1655064"/>
            <a:ext cx="1749552" cy="48234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1.0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155698"/>
            <a:ext cx="1749552" cy="48234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5080" y="2155698"/>
            <a:ext cx="1749552" cy="48234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RX success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2920" y="2155698"/>
            <a:ext cx="1749552" cy="48234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1.0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656332"/>
            <a:ext cx="1749552" cy="48234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45080" y="2656332"/>
            <a:ext cx="1749552" cy="48234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TX success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12920" y="2656332"/>
            <a:ext cx="1749552" cy="48234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1.0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156966"/>
            <a:ext cx="1749552" cy="48234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45080" y="3156966"/>
            <a:ext cx="1749552" cy="48234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RX success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12920" y="3156966"/>
            <a:ext cx="1749552" cy="48234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0.6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1325880"/>
            <a:ext cx="4206240" cy="242316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seq=34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seq=35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seq=36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seq=37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seq=38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 seq=34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 seq=36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 seq=38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4251960"/>
            <a:ext cx="9875520" cy="868680"/>
          </a:xfrm>
          <a:prstGeom prst="rect">
            <a:avLst/>
          </a:prstGeom>
          <a:solidFill>
            <a:srgbClr val="FBE6E6"/>
          </a:solidFill>
          <a:ln w="15240">
            <a:solidFill>
              <a:srgbClr val="C94C4C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94C4C"/>
                </a:solidFill>
              </a:rPr>
              <a:t>Important
</a:t>
            </a:r>
            <a:r>
              <a:rPr lang="en-US" sz="1450" dirty="0">
                <a:solidFill>
                  <a:srgbClr val="1E252B"/>
                </a:solidFill>
              </a:rPr>
              <a:t>Do not move the motes during this step. The only change should be the radio-medium success ratio.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STUDENT ACTIONS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Hands-on E: PRR from observed packets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24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5120640" cy="150876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PRR = received / sent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14 packets received out of 20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PRR = 14 / 20 = 0.70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4480560" cy="114300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Their task
</a:t>
            </a:r>
            <a:r>
              <a:rPr lang="en-US" sz="1450" dirty="0">
                <a:solidFill>
                  <a:srgbClr val="1E252B"/>
                </a:solidFill>
              </a:rPr>
              <a:t>Use the reduced-success experiment. Count received packets from the Mote Output and compute one PRR value.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25648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Experiment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7580" y="3520440"/>
            <a:ext cx="25648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Sent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3520440"/>
            <a:ext cx="25648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Received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63940" y="3520440"/>
            <a:ext cx="25648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PRR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849624"/>
            <a:ext cx="2564892" cy="61264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Reduced-success link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7580" y="3849624"/>
            <a:ext cx="2564892" cy="61264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20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3849624"/>
            <a:ext cx="2564892" cy="61264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63940" y="3849624"/>
            <a:ext cx="2564892" cy="612648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RADIO MEDIUM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MRM: optional comparison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25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548640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Create a second simulation named Week2-MRM.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Choose Multi-path Ray-tracer Medium if available.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Add the same Sender and Receiver Sky mote types.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Open MRM Area Viewer / Formula Viewer if present.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Move the receiver and observe changes in output and visualization.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1325880"/>
            <a:ext cx="4297680" cy="164592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2A23A"/>
                </a:solidFill>
              </a:rPr>
              <a:t>Instructor framing
</a:t>
            </a:r>
            <a:r>
              <a:rPr lang="en-US" sz="1450" dirty="0">
                <a:solidFill>
                  <a:srgbClr val="1E252B"/>
                </a:solidFill>
              </a:rPr>
              <a:t>MRM is not a perfect physical world either. It is a richer propagation abstraction than UDGM and helps students see that radio-medium choice matters.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29400" y="3337560"/>
            <a:ext cx="4297680" cy="109728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Time rule
</a:t>
            </a:r>
            <a:r>
              <a:rPr lang="en-US" sz="1450" dirty="0">
                <a:solidFill>
                  <a:srgbClr val="1E252B"/>
                </a:solidFill>
              </a:rPr>
              <a:t>If class is slow, skip MRM. The core lab is still complete with UDGM + controlled loss.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INSTRUCTOR TALK TRACK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 lecture: transmission range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26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5029200" cy="141732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Meaning in UDGM
</a:t>
            </a:r>
            <a:r>
              <a:rPr lang="en-US" sz="1450" dirty="0">
                <a:solidFill>
                  <a:srgbClr val="1E252B"/>
                </a:solidFill>
              </a:rPr>
              <a:t>A configured radius around a transmitting mote. Inside it, packets may be delivered; outside it, they are not delivered by the model.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55080" y="1325880"/>
            <a:ext cx="4663440" cy="1417320"/>
          </a:xfrm>
          <a:prstGeom prst="rect">
            <a:avLst/>
          </a:prstGeom>
          <a:solidFill>
            <a:srgbClr val="FBE6E6"/>
          </a:solidFill>
          <a:ln w="15240">
            <a:solidFill>
              <a:srgbClr val="C94C4C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94C4C"/>
                </a:solidFill>
              </a:rPr>
              <a:t>Dangerous interpretation
</a:t>
            </a:r>
            <a:r>
              <a:rPr lang="en-US" sz="1450" dirty="0">
                <a:solidFill>
                  <a:srgbClr val="1E252B"/>
                </a:solidFill>
              </a:rPr>
              <a:t>Do not say this is the real-world range of a TelosB/Sky mote. It is a simulation parameter.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907792" y="4251960"/>
            <a:ext cx="6163056" cy="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38528" y="3538728"/>
            <a:ext cx="1426464" cy="1426464"/>
          </a:xfrm>
          <a:prstGeom prst="arc">
            <a:avLst/>
          </a:prstGeom>
          <a:solidFill>
            <a:srgbClr val="FBF7EF">
              <a:alpha val="0"/>
            </a:srgbClr>
          </a:solidFill>
          <a:ln w="13970">
            <a:solidFill>
              <a:srgbClr val="2A8C82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72768" y="3172968"/>
            <a:ext cx="2157984" cy="2157984"/>
          </a:xfrm>
          <a:prstGeom prst="arc">
            <a:avLst/>
          </a:prstGeom>
          <a:solidFill>
            <a:srgbClr val="FBF7EF">
              <a:alpha val="0"/>
            </a:srgbClr>
          </a:solidFill>
          <a:ln w="12700">
            <a:solidFill>
              <a:srgbClr val="2A8C82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95728" y="3995928"/>
            <a:ext cx="512064" cy="512064"/>
          </a:xfrm>
          <a:prstGeom prst="ellipse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070848" y="3995928"/>
            <a:ext cx="512064" cy="512064"/>
          </a:xfrm>
          <a:prstGeom prst="ellipse">
            <a:avLst/>
          </a:prstGeom>
          <a:solidFill>
            <a:srgbClr val="E2A23A"/>
          </a:solidFill>
          <a:ln w="12700">
            <a:solidFill>
              <a:srgbClr val="E2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65960" y="5394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Sender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Sky mote 1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8549640" y="5394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Receiver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12314A"/>
                </a:solidFill>
              </a:rPr>
              <a:t>Sky mote 2</a:t>
            </a:r>
            <a:endParaRPr lang="en-US" sz="10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INSTRUCTOR TALK TRACK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 lecture: interference range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27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557784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Transmission range: where a packet can be received.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Interference range: where a transmission may still disturb another reception.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This becomes important with more than two motes.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In today’s two-node lab, keep the focus on transmission range and success ratios.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1463040"/>
            <a:ext cx="4114800" cy="123444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2A23A"/>
                </a:solidFill>
              </a:rPr>
              <a:t>Simple analogy
</a:t>
            </a:r>
            <a:r>
              <a:rPr lang="en-US" sz="1500" dirty="0">
                <a:solidFill>
                  <a:srgbClr val="1E252B"/>
                </a:solidFill>
              </a:rPr>
              <a:t>A person may be too far away to understand clearly, but still loud enough to interrupt someone else nearby.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0840" y="3063240"/>
            <a:ext cx="4114800" cy="91440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A8C82"/>
                </a:solidFill>
              </a:rPr>
              <a:t>Do not overuse today
</a:t>
            </a:r>
            <a:r>
              <a:rPr lang="en-US" sz="1500" dirty="0">
                <a:solidFill>
                  <a:srgbClr val="1E252B"/>
                </a:solidFill>
              </a:rPr>
              <a:t>Hidden terminals and CCA belong better to the MAC week.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INSTRUCTOR TALK TRACK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 lecture: success ratios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28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51937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Ratio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1325880"/>
            <a:ext cx="519379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Lab meaning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655064"/>
            <a:ext cx="5193792" cy="49682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TX success = 1.0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1655064"/>
            <a:ext cx="5193792" cy="49682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sender side does not inject random loss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170176"/>
            <a:ext cx="5193792" cy="49682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RX success = 1.0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2170176"/>
            <a:ext cx="5193792" cy="49682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receiver side delivers all in-range packets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685288"/>
            <a:ext cx="5193792" cy="49682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RX success = 0.6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2685288"/>
            <a:ext cx="5193792" cy="49682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roughly 60% of otherwise receivable packets pass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703320"/>
            <a:ext cx="4983480" cy="105156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Why use this knob?
</a:t>
            </a:r>
            <a:r>
              <a:rPr lang="en-US" sz="1450" dirty="0">
                <a:solidFill>
                  <a:srgbClr val="1E252B"/>
                </a:solidFill>
              </a:rPr>
              <a:t>It lets students observe PRR and missing sequence numbers even without a complicated multipath/fading setup.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3703320"/>
            <a:ext cx="4572000" cy="105156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2A23A"/>
                </a:solidFill>
              </a:rPr>
              <a:t>Careful wording
</a:t>
            </a:r>
            <a:r>
              <a:rPr lang="en-US" sz="1450" dirty="0">
                <a:solidFill>
                  <a:srgbClr val="1E252B"/>
                </a:solidFill>
              </a:rPr>
              <a:t>Do not promise exactly 12 of 20 packets at RX=0.6. It is probabilistic.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INSTRUCTOR TALK TRACK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Parameter lecture: RSSI vs LQI vs PRR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29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360883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Metric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58640" y="1325880"/>
            <a:ext cx="360883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Represents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85760" y="1325880"/>
            <a:ext cx="360883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DF8"/>
                </a:solidFill>
              </a:rPr>
              <a:t>Collected how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655064"/>
            <a:ext cx="360883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RSSI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58640" y="1655064"/>
            <a:ext cx="360883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received power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85760" y="1655064"/>
            <a:ext cx="360883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per received packet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124456"/>
            <a:ext cx="3608832" cy="45110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LQI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58640" y="2124456"/>
            <a:ext cx="3608832" cy="45110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packet quality estimate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85760" y="2124456"/>
            <a:ext cx="3608832" cy="451104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per received packet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593848"/>
            <a:ext cx="360883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52B"/>
                </a:solidFill>
              </a:rPr>
              <a:t>PRR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58640" y="2593848"/>
            <a:ext cx="360883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delivery reliability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85760" y="2593848"/>
            <a:ext cx="3608832" cy="451104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52B"/>
                </a:solidFill>
              </a:rPr>
              <a:t>over many transmissions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10149840" cy="105156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A8C82"/>
                </a:solidFill>
              </a:rPr>
              <a:t>One-sentence distinction
</a:t>
            </a:r>
            <a:r>
              <a:rPr lang="en-US" sz="1500" dirty="0">
                <a:solidFill>
                  <a:srgbClr val="1E252B"/>
                </a:solidFill>
              </a:rPr>
              <a:t>RSSI tells us how strong the heard packet looked; LQI tells us something about the decoded packet; PRR tells us how often packets arrived at all.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SUBMISSION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Expected student deliverables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30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566928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Screenshot 1: two Sky motes with UDGM radio range visible.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Screenshot 2: Mote Output with TX seq and RX seq/RSSI/LQI.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Screenshot 3: reduced-success or boundary-crossing experiment.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One completed measurement table.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One PRR value from the reduced-success experiment.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1325880"/>
            <a:ext cx="109042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DF8"/>
                </a:solidFill>
              </a:rPr>
              <a:t>Experiment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29550" y="1325880"/>
            <a:ext cx="109042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DF8"/>
                </a:solidFill>
              </a:rPr>
              <a:t>Sent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38260" y="1325880"/>
            <a:ext cx="109042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DF8"/>
                </a:solidFill>
              </a:rPr>
              <a:t>Received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46970" y="1325880"/>
            <a:ext cx="109042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DF8"/>
                </a:solidFill>
              </a:rPr>
              <a:t>Observation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1655064"/>
            <a:ext cx="1090422" cy="67665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52B"/>
                </a:solidFill>
              </a:rPr>
              <a:t>Close UDGM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29550" y="1655064"/>
            <a:ext cx="1090422" cy="67665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52B"/>
                </a:solidFill>
              </a:rPr>
              <a:t>10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38260" y="1655064"/>
            <a:ext cx="1090422" cy="67665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46970" y="1655064"/>
            <a:ext cx="1090422" cy="67665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20840" y="2350008"/>
            <a:ext cx="1090422" cy="67665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52B"/>
                </a:solidFill>
              </a:rPr>
              <a:t>Medium UDGM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29550" y="2350008"/>
            <a:ext cx="1090422" cy="67665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52B"/>
                </a:solidFill>
              </a:rPr>
              <a:t>10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38260" y="2350008"/>
            <a:ext cx="1090422" cy="67665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46970" y="2350008"/>
            <a:ext cx="1090422" cy="67665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0840" y="3044952"/>
            <a:ext cx="1090422" cy="67665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52B"/>
                </a:solidFill>
              </a:rPr>
              <a:t>Near-edge UDGM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29550" y="3044952"/>
            <a:ext cx="1090422" cy="67665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52B"/>
                </a:solidFill>
              </a:rPr>
              <a:t>10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38260" y="3044952"/>
            <a:ext cx="1090422" cy="67665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46970" y="3044952"/>
            <a:ext cx="1090422" cy="676656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0840" y="3739896"/>
            <a:ext cx="1090422" cy="67665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52B"/>
                </a:solidFill>
              </a:rPr>
              <a:t>Reduced success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829550" y="3739896"/>
            <a:ext cx="1090422" cy="67665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52B"/>
                </a:solidFill>
              </a:rPr>
              <a:t>20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38260" y="3739896"/>
            <a:ext cx="1090422" cy="67665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46970" y="3739896"/>
            <a:ext cx="1090422" cy="676656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COMMON ERRORS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Troubleshooting: Cooja does not start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5257800" cy="114300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FAILED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Could not find the MSPSim build file.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you run "git submodule update --init"?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446520" y="1325880"/>
            <a:ext cx="4526280" cy="164592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~/contiki-3.0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submodule update --init --recursive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tools/cooja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 run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5212080" cy="868680"/>
          </a:xfrm>
          <a:prstGeom prst="rect">
            <a:avLst/>
          </a:prstGeom>
          <a:solidFill>
            <a:srgbClr val="FBE6E6"/>
          </a:solidFill>
          <a:ln w="15240">
            <a:solidFill>
              <a:srgbClr val="C94C4C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94C4C"/>
                </a:solidFill>
              </a:rPr>
              <a:t>Meaning
</a:t>
            </a:r>
            <a:r>
              <a:rPr lang="en-US" sz="1450" dirty="0">
                <a:solidFill>
                  <a:srgbClr val="1E252B"/>
                </a:solidFill>
              </a:rPr>
              <a:t>MSPSim is missing, so Cooja cannot emulate Sky motes.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3520440"/>
            <a:ext cx="4526280" cy="86868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Best practice
</a:t>
            </a:r>
            <a:r>
              <a:rPr lang="en-US" sz="1450" dirty="0">
                <a:solidFill>
                  <a:srgbClr val="1E252B"/>
                </a:solidFill>
              </a:rPr>
              <a:t>Repair the VM before lab day. Keep students focused on radio experiments.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COMMON ERRORS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Troubleshooting: no receiver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32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537667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DF8"/>
                </a:solidFill>
              </a:rPr>
              <a:t>Symptom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200" y="1325880"/>
            <a:ext cx="5376672" cy="329184"/>
          </a:xfrm>
          <a:prstGeom prst="rect">
            <a:avLst/>
          </a:prstGeom>
          <a:solidFill>
            <a:srgbClr val="12314A"/>
          </a:solidFill>
          <a:ln>
            <a:solidFill>
              <a:srgbClr val="FBF7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DF8"/>
                </a:solidFill>
              </a:rPr>
              <a:t>Check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655064"/>
            <a:ext cx="5376672" cy="519379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52B"/>
                </a:solidFill>
              </a:rPr>
              <a:t>Only TX seq appears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72200" y="1655064"/>
            <a:ext cx="5376672" cy="519379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52B"/>
                </a:solidFill>
              </a:rPr>
              <a:t>receiver compiled from receiver.c?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192731"/>
            <a:ext cx="5376672" cy="519379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52B"/>
                </a:solidFill>
              </a:rPr>
              <a:t>RX never appears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72200" y="2192731"/>
            <a:ext cx="5376672" cy="519379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52B"/>
                </a:solidFill>
              </a:rPr>
              <a:t>same Rime channel 129 on both sides?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2730398"/>
            <a:ext cx="5376672" cy="519379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52B"/>
                </a:solidFill>
              </a:rPr>
              <a:t>RX stops at edge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72200" y="2730398"/>
            <a:ext cx="5376672" cy="519379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52B"/>
                </a:solidFill>
              </a:rPr>
              <a:t>receiver outside transmission range?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3268066"/>
            <a:ext cx="5376672" cy="519379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52B"/>
                </a:solidFill>
              </a:rPr>
              <a:t>Compilation fails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2200" y="3268066"/>
            <a:ext cx="5376672" cy="519379"/>
          </a:xfrm>
          <a:prstGeom prst="rect">
            <a:avLst/>
          </a:prstGeom>
          <a:solidFill>
            <a:srgbClr val="F8F2E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52B"/>
                </a:solidFill>
              </a:rPr>
              <a:t>file path and CONTIKI variable in Makefile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805733"/>
            <a:ext cx="5376672" cy="519379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52B"/>
                </a:solidFill>
              </a:rPr>
              <a:t>Sky mote unavailable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3805733"/>
            <a:ext cx="5376672" cy="519379"/>
          </a:xfrm>
          <a:prstGeom prst="rect">
            <a:avLst/>
          </a:prstGeom>
          <a:solidFill>
            <a:srgbClr val="FFFDF8"/>
          </a:solidFill>
          <a:ln w="5080">
            <a:solidFill>
              <a:srgbClr val="D9D0C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52B"/>
                </a:solidFill>
              </a:rPr>
              <a:t>MSPSim/submodule problem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2A23A"/>
                </a:solidFill>
              </a:rPr>
              <a:t>Instructor shortcut
</a:t>
            </a:r>
            <a:r>
              <a:rPr lang="en-US" sz="1500" dirty="0">
                <a:solidFill>
                  <a:srgbClr val="1E252B"/>
                </a:solidFill>
              </a:rPr>
              <a:t>Keep a working .csc simulation ready as backup.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APPENDIX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Code 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33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847088" cy="77724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sender.c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551176" y="16139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98648" y="1325880"/>
            <a:ext cx="1847088" cy="777240"/>
          </a:xfrm>
          <a:prstGeom prst="rect">
            <a:avLst/>
          </a:prstGeom>
          <a:solidFill>
            <a:srgbClr val="FFF0D1"/>
          </a:solidFill>
          <a:ln w="13970">
            <a:solidFill>
              <a:srgbClr val="E2A2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broadcast_send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09744" y="16139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57216" y="1325880"/>
            <a:ext cx="1847088" cy="77724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radio medium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68312" y="16139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15784" y="1325880"/>
            <a:ext cx="1847088" cy="777240"/>
          </a:xfrm>
          <a:prstGeom prst="rect">
            <a:avLst/>
          </a:prstGeom>
          <a:solidFill>
            <a:srgbClr val="FFF0D1"/>
          </a:solidFill>
          <a:ln w="13970">
            <a:solidFill>
              <a:srgbClr val="E2A2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receiver.c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26880" y="1613916"/>
            <a:ext cx="274320" cy="201168"/>
          </a:xfrm>
          <a:prstGeom prst="rightArrow">
            <a:avLst/>
          </a:prstGeom>
          <a:solidFill>
            <a:srgbClr val="697681"/>
          </a:solidFill>
          <a:ln w="12700">
            <a:solidFill>
              <a:srgbClr val="69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74352" y="1325880"/>
            <a:ext cx="1847088" cy="777240"/>
          </a:xfrm>
          <a:prstGeom prst="rect">
            <a:avLst/>
          </a:prstGeom>
          <a:solidFill>
            <a:srgbClr val="E5F3F0"/>
          </a:solidFill>
          <a:ln w="13970">
            <a:solidFill>
              <a:srgbClr val="2A8C8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14A"/>
                </a:solidFill>
              </a:rPr>
              <a:t>packetbuf_attr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2743200"/>
            <a:ext cx="1014984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sender.c periodically creates a sequence number and broadcasts it.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Cooja radio medium decides whether the frame reaches the receiver.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receiver.c prints the received sequence number, RSSI, and LQI.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Makefile builds both programs under Contiki 3.0.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CODE APPENDIX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sender.c — includes and setup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34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881360" cy="489204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"contiki.h"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"net/rime/rime.h"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"net/packetbuf.h"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&lt;stdint.h&gt;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PROCESS(sender_process, "Radio lab sender");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AUTOSTART_PROCESSES(&amp;sender_process);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struct broadcast_conn broadcast;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broadcast_recv(struct broadcast_conn *c, const linkaddr_t *from)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Sender does not process received packets. */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struct broadcast_callbacks broadcast_call = 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broadcast_recv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CODE APPENDIX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sender.c — timer and transmission 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35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881360" cy="489204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PROCESS_THREAD(sender_process, ev, data)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struct etimer timer;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uint16_t seq = 0;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PROCESS_EXITHANDLER(broadcast_close(&amp;broadcast);)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PROCESS_BEGIN();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broadcast_open(&amp;broadcast, 129, &amp;broadcast_call);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etimer_set(&amp;timer, CLOCK_SECOND);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while(1) 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PROCESS_WAIT_EVENT_UNTIL(etimer_expired(&amp;timer));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seq++;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packetbuf_copyfrom(&amp;seq, sizeof(seq));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broadcast_send(&amp;broadcast);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printf("TX seq=%u\n", seq);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etimer_reset(&amp;timer);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PROCESS_END();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CODE APPENDIX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receiver.c — includes and process setup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36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881360" cy="489204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"contiki.h"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"net/rime/rime.h"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"net/packetbuf.h"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&lt;stdint.h&gt;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&lt;string.h&gt;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PROCESS(receiver_process, "Radio lab receiver");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AUTOSTART_PROCESSES(&amp;receiver_process);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struct broadcast_conn broadcast;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broadcast_recv(struct broadcast_conn *c, const linkaddr_t *from)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uint16_t seq;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int8_t rssi_raw;</a:t>
            </a:r>
            <a:endParaRPr lang="en-US" sz="11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CODE APPENDIX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receiver.c — receive callback and sequence extraction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37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881360" cy="489204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int16_t rssi_dbm;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uint16_t lqi;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if(packetbuf_datalen() &gt;= sizeof(seq))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memcpy(&amp;seq, packetbuf_dataptr(), sizeof(seq));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rssi_raw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(int8_t)packetbuf_attr(PACKETBUF_ATTR_RSSI);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CC2420 RSSI uses an approximately -45 dB offset.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rssi_dbm = ((int16_t)rssi_raw) - 45;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lqi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packetbuf_attr(PACKETBUF_ATTR_LINK_QUALITY);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printf("RX seq=%u RSSI=%d dBm LQI=%u\n",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seq, rssi_dbm, lqi);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struct broadcast_callbacks broadcast_call = {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CODE APPENDIX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receiver.c — RSSI/LQI print and process 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38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881360" cy="489204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broadcast_recv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PROCESS_THREAD(receiver_process, ev, data)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PROCESS_EXITHANDLER(broadcast_close(&amp;broadcast);)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PROCESS_BEGIN();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broadcast_open(&amp;broadcast, 129, &amp;broadcast_call);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while(1)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PROCESS_YIELD();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PROCESS_END();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CODE APPENDIX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Makefile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5074920" cy="150876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CONTIKI_PROJECT = sender receiver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all: $(CONTIKI_PROJECT)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CONTIKI = ../..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$(CONTIKI)/Makefile.include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508760"/>
            <a:ext cx="470916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CONTIKI_PROJECT lists the programs to build.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CONTIKI = ../.. is correct when this folder is under examples/week2-radio.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Makefile.include supplies the Contiki 3.0 build rules.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APPENDIX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Useful terminal commands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40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5486400" cy="3063240"/>
          </a:xfrm>
          <a:prstGeom prst="rect">
            <a:avLst/>
          </a:prstGeom>
          <a:solidFill>
            <a:srgbClr val="17212B"/>
          </a:solidFill>
          <a:ln w="10160">
            <a:solidFill>
              <a:srgbClr val="31455C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Cooja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~/contiki-3.0/tools/cooja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 run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Optional: compile from terminal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~/contiki-3.0/examples/week2-radio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TARGET=sky sender.sky receiver.sky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Clean build artifacts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TARGET=sky clean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4343400" cy="1234440"/>
          </a:xfrm>
          <a:prstGeom prst="rect">
            <a:avLst/>
          </a:prstGeom>
          <a:solidFill>
            <a:srgbClr val="E5F3F0"/>
          </a:solidFill>
          <a:ln w="15240">
            <a:solidFill>
              <a:srgbClr val="2A8C82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A8C82"/>
                </a:solidFill>
              </a:rPr>
              <a:t>Classroom practice
</a:t>
            </a:r>
            <a:r>
              <a:rPr lang="en-US" sz="1450" dirty="0">
                <a:solidFill>
                  <a:srgbClr val="1E252B"/>
                </a:solidFill>
              </a:rPr>
              <a:t>Students mostly use the Cooja GUI. Terminal compile is useful for instructors and troubleshooting.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A8C82"/>
                </a:solidFill>
              </a:rPr>
              <a:t>WRAP-UP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</a:rPr>
              <a:t>Source basis and closing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201400" cy="0"/>
          </a:xfrm>
          <a:prstGeom prst="line">
            <a:avLst/>
          </a:prstGeom>
          <a:noFill/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97681"/>
                </a:solidFill>
              </a:rPr>
              <a:t>WSN Week 2 · Contiki 3.0 / Cooja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97681"/>
                </a:solidFill>
              </a:rPr>
              <a:t>41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060704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The lab follows the Week 2 themes: path loss, RSSI, LQI, PRR, transitional behavior, and Cooja radio models.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The experiment uses one transmitter and one receiver so students can directly connect motion, radio model, and observed packet delivery.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The most important observation: RSSI/LQI readings and PRR are related but not interchangeable.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52B"/>
                </a:solidFill>
              </a:rPr>
              <a:t>• Simulation parameters are learning tools, not promises about real deployment performance.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800600"/>
            <a:ext cx="10241280" cy="822960"/>
          </a:xfrm>
          <a:prstGeom prst="rect">
            <a:avLst/>
          </a:prstGeom>
          <a:solidFill>
            <a:srgbClr val="FFF0D1"/>
          </a:solidFill>
          <a:ln w="15240">
            <a:solidFill>
              <a:srgbClr val="E2A23A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2A23A"/>
                </a:solidFill>
              </a:rPr>
              <a:t>End with this line
</a:t>
            </a:r>
            <a:r>
              <a:rPr lang="en-US" sz="1600" dirty="0">
                <a:solidFill>
                  <a:srgbClr val="1E252B"/>
                </a:solidFill>
              </a:rPr>
              <a:t>“A wireless link is not a cable. Measure delivery; do not assume it from distance alone.”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CFE9843B9CD54095FA5974CE6AA937" ma:contentTypeVersion="3" ma:contentTypeDescription="Create a new document." ma:contentTypeScope="" ma:versionID="2d3a4f5b3a72134a3a4f8027884dd868">
  <xsd:schema xmlns:xsd="http://www.w3.org/2001/XMLSchema" xmlns:xs="http://www.w3.org/2001/XMLSchema" xmlns:p="http://schemas.microsoft.com/office/2006/metadata/properties" xmlns:ns2="7f6e6009-aa9c-4971-8c54-fad4e8cea4c3" targetNamespace="http://schemas.microsoft.com/office/2006/metadata/properties" ma:root="true" ma:fieldsID="9be88fa296c6bc85c2000bf4f3d07248" ns2:_="">
    <xsd:import namespace="7f6e6009-aa9c-4971-8c54-fad4e8cea4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6e6009-aa9c-4971-8c54-fad4e8cea4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279691-25EA-4FC0-9CD9-1CC570F778DB}"/>
</file>

<file path=customXml/itemProps2.xml><?xml version="1.0" encoding="utf-8"?>
<ds:datastoreItem xmlns:ds="http://schemas.openxmlformats.org/officeDocument/2006/customXml" ds:itemID="{33A9532A-A05A-42E2-B7EE-292C602C76C8}"/>
</file>

<file path=customXml/itemProps3.xml><?xml version="1.0" encoding="utf-8"?>
<ds:datastoreItem xmlns:ds="http://schemas.openxmlformats.org/officeDocument/2006/customXml" ds:itemID="{03A34533-4229-4DB2-A3EE-AD4C4AA60709}"/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4473</Words>
  <Application>Microsoft Office PowerPoint</Application>
  <PresentationFormat>Widescreen</PresentationFormat>
  <Paragraphs>696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WSN Cooja Lab — Radio Propagation and Link Quality</dc:title>
  <dc:subject>Week 2 WSN Cooja Lab for Contiki 3.0</dc:subject>
  <dc:creator>OpenAI</dc:creator>
  <cp:lastModifiedBy>manolya atalay</cp:lastModifiedBy>
  <cp:revision>2</cp:revision>
  <dcterms:created xsi:type="dcterms:W3CDTF">2026-09-24T06:21:36Z</dcterms:created>
  <dcterms:modified xsi:type="dcterms:W3CDTF">2026-09-24T11:14:59Z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0x0101007DCFE9843B9CD54095FA5974CE6AA937</vt:lpwstr>
  </property>
</Properties>
</file>